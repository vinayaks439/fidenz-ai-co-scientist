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75887"/>
            <a:ext cx="12191695" cy="73152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914400"/>
            <a:ext cx="82296" cy="50292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400" y="914400"/>
            <a:ext cx="82296" cy="5029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52560" y="914400"/>
            <a:ext cx="82296" cy="5029200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7B0A8"/>
                </a:solidFill>
                <a:latin typeface="Calibri"/>
              </a:rPr>
              <a:t>2026 INNOVATION CUP FOR AI AGENTS  ·  CHALLENGE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4241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AS-ALD Co-Scientist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 i="0">
                <a:solidFill>
                  <a:srgbClr val="C7CEF2"/>
                </a:solidFill>
                <a:latin typeface="Calibri"/>
              </a:rPr>
              <a:t>An autonomous in-silico AI co-scientist for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area-selective atomic layer deposition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D6DCF5"/>
                </a:solidFill>
                <a:latin typeface="Calibri"/>
              </a:rPr>
              <a:t>From a research idea → literature-grounded hypotheses → human-committed inhibitor/precursor scheme → batch in-silico selectivity screening → an autonomously authored, reproducible manuscript.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7B0A8"/>
                </a:solidFill>
                <a:latin typeface="Calibri"/>
              </a:rPr>
              <a:t>Goal: passivate SiN, grow SiOₓ-on-SiOₓ at ≥90% selectivity at 10 nm oxide (3D-NAND cell isolation)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141732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141732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B1D5E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2B1D5E"/>
                </a:solidFill>
                <a:latin typeface="Calibr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Challenge 4 goal, AS-ALD mechanism, and why 3D-NAND needs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17320"/>
            <a:ext cx="3611880" cy="141732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417320"/>
            <a:ext cx="82296" cy="14173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527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E6BE6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19659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2B1D5E"/>
                </a:solidFill>
                <a:latin typeface="Calibri"/>
              </a:rPr>
              <a:t>The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258568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A four-layer agentic funnel and the two graded deliverables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1417320"/>
            <a:ext cx="3611880" cy="141732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417320"/>
            <a:ext cx="82296" cy="141732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527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7B0A8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19659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2B1D5E"/>
                </a:solidFill>
                <a:latin typeface="Calibri"/>
              </a:rPr>
              <a:t>The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258568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Amorphous surface builder, site-matched selection, testing protocol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3611880" cy="141732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090672"/>
            <a:ext cx="82296" cy="1417320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A4CC8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39312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2B1D5E"/>
                </a:solidFill>
                <a:latin typeface="Calibri"/>
              </a:rPr>
              <a:t>The screening funnel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3192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Batch candidate screening → recommendation → paper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3090672"/>
            <a:ext cx="3611880" cy="141732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3090672"/>
            <a:ext cx="82296" cy="141732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3200400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B1D5E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3639312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2B1D5E"/>
                </a:solidFill>
                <a:latin typeface="Calibri"/>
              </a:rPr>
              <a:t>Results &amp; rigor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393192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Example campaign, reproducibility, and requirement mapping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38744" y="3090672"/>
            <a:ext cx="3611880" cy="141732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3090672"/>
            <a:ext cx="82296" cy="14173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3200400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E6BE6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639312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2B1D5E"/>
                </a:solidFill>
                <a:latin typeface="Calibri"/>
              </a:rPr>
              <a:t>References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393192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Literature and methods behind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Challenge 4 — the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201400" cy="1234440"/>
          </a:xfrm>
          <a:prstGeom prst="round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60704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“Passivate SiN (nitride) to deposit SiOₓ on SiOₓ (oxide) with 90% selectivity at 10 nm of oxide thickness.”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1D5E"/>
                </a:solidFill>
                <a:latin typeface="Calibri"/>
              </a:rPr>
              <a:t>The in-silico AI co-scientist shall include: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37560"/>
            <a:ext cx="5532120" cy="1874519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82296" cy="1874519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9300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B1D5E"/>
                </a:solidFill>
                <a:latin typeface="Calibri"/>
              </a:rPr>
              <a:t>1  Amorphous surface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Better reflects real experimental surfaces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SiOₓ models over-count reactive sites vs experiment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SiNₓ –NH₂/–NH sites have irregular spacing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337560"/>
            <a:ext cx="5532120" cy="1874519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337560"/>
            <a:ext cx="82296" cy="1874519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49300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B1D5E"/>
                </a:solidFill>
                <a:latin typeface="Calibri"/>
              </a:rPr>
              <a:t>2  Agentic selection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977639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Chooses inhibitor / precursor candidates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Grounded in literature; steerable via a criteria file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Surfaces = SiN, SiO₂; film = SiOₓ, SiNₓ, or high-k oxides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Selectivity metric:  </a:t>
            </a:r>
            <a:r>
              <a:rPr sz="1500" b="1" i="0">
                <a:solidFill>
                  <a:srgbClr val="17B0A8"/>
                </a:solidFill>
                <a:latin typeface="Calibri"/>
              </a:rPr>
              <a:t>S = (Thk_GS − Thk_NGS) / (Thk_GS + Thk_NGS)</a:t>
            </a:r>
            <a:r>
              <a:rPr sz="1300" b="0" i="0">
                <a:solidFill>
                  <a:srgbClr val="5B6070"/>
                </a:solidFill>
                <a:latin typeface="Calibri"/>
              </a:rPr>
              <a:t>   evaluated where the growth-surface film reaches 10 nm.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area-selective ALD — and why it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532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AS-ALD. </a:t>
            </a:r>
            <a:r>
              <a:rPr sz="1450">
                <a:solidFill>
                  <a:srgbClr val="222633"/>
                </a:solidFill>
                <a:latin typeface="Calibri"/>
              </a:rPr>
              <a:t>Deposit film only where wanted: grow on the growth surface (GS), block the non-growth surface (NGS) with a molecular inhibitor.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The mechanism. </a:t>
            </a:r>
            <a:r>
              <a:rPr sz="1450">
                <a:solidFill>
                  <a:srgbClr val="222633"/>
                </a:solidFill>
                <a:latin typeface="Calibri"/>
              </a:rPr>
              <a:t>The inhibitor chemisorbs on the NGS and survives the purge; the precursor nucleates on the GS. The nucleation delay on the NGS is the selectivity.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3D-NAND driver. </a:t>
            </a:r>
            <a:r>
              <a:rPr sz="1450">
                <a:solidFill>
                  <a:srgbClr val="222633"/>
                </a:solidFill>
                <a:latin typeface="Calibri"/>
              </a:rPr>
              <a:t>Selectively growing oxide-on-oxide isolates charge-trap nitride on adjacent cells, reducing cross-talk — with fewer patterning and etch steps.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The core difficulty. </a:t>
            </a:r>
            <a:r>
              <a:rPr sz="1450">
                <a:solidFill>
                  <a:srgbClr val="222633"/>
                </a:solidFill>
                <a:latin typeface="Calibri"/>
              </a:rPr>
              <a:t>Computed selectivity is dominated by the assumed amorphous-surface model. Crystalline slabs get the sign of screening decisions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40680" cy="425196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The selectivity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057400"/>
            <a:ext cx="2286000" cy="5029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 surface (SiO₂)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57400"/>
            <a:ext cx="2286000" cy="502920"/>
          </a:xfrm>
          <a:prstGeom prst="rect">
            <a:avLst/>
          </a:prstGeom>
          <a:solidFill>
            <a:srgbClr val="8A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121408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Non-growth surface (SiN)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847088"/>
            <a:ext cx="2286000" cy="18288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819656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inhibitor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417320"/>
            <a:ext cx="2286000" cy="603504"/>
          </a:xfrm>
          <a:prstGeom prst="rect">
            <a:avLst/>
          </a:prstGeom>
          <a:solidFill>
            <a:srgbClr val="3CA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SiOₓ film grows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B6070"/>
                </a:solidFill>
                <a:latin typeface="Calibri"/>
              </a:rPr>
              <a:t>Film builds on the growth surface; the inhibitor delays nucleation on the non-growth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657600"/>
            <a:ext cx="49377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767328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1D5E"/>
                </a:solidFill>
                <a:latin typeface="Calibri"/>
              </a:rPr>
              <a:t>Amorphous ≠ crystalline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4617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150" b="1">
                <a:solidFill>
                  <a:srgbClr val="2E6BE6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Amorphous surfaces expose terminal AND bridge sites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150" b="1">
                <a:solidFill>
                  <a:srgbClr val="2E6BE6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~35% fewer terminal sites than crystalline models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150" b="1">
                <a:solidFill>
                  <a:srgbClr val="2E6BE6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Getting the surface right is where the challenge is won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 four-layer agentic co-scientist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201400" cy="1078992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691640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63624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545336"/>
            <a:ext cx="9052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2B1D5E"/>
                </a:solidFill>
                <a:latin typeface="Calibri"/>
              </a:rPr>
              <a:t>Deep Research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920240"/>
            <a:ext cx="9098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A literature-mining swarm builds a typed knowledge graph of surfaces, sites, inhibitors, precursors, mechanisms, and prior selectivity results.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234440" y="2478024"/>
            <a:ext cx="256032" cy="146304"/>
          </a:xfrm>
          <a:prstGeom prst="downArrow">
            <a:avLst/>
          </a:prstGeom>
          <a:solidFill>
            <a:srgbClr val="2B1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201400" cy="1078992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06040"/>
            <a:ext cx="1691640" cy="1078992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52344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0896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734056"/>
            <a:ext cx="9052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2B1D5E"/>
                </a:solidFill>
                <a:latin typeface="Calibri"/>
              </a:rPr>
              <a:t>Human-in-the-loop 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108960"/>
            <a:ext cx="9098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The researcher reviews ranked intervention hypotheses and commits one inhibitor/precursor scheme — the expensive branch point.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234440" y="3666744"/>
            <a:ext cx="256032" cy="146304"/>
          </a:xfrm>
          <a:prstGeom prst="downArrow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11201400" cy="1078992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94760"/>
            <a:ext cx="1691640" cy="1078992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41064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976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In-silico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922776"/>
            <a:ext cx="9052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2B1D5E"/>
                </a:solidFill>
                <a:latin typeface="Calibri"/>
              </a:rPr>
              <a:t>In-silico validation &amp; screening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297680"/>
            <a:ext cx="9098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Surface builder + fidelity gate, agentic candidate selection, tiered reactivity engine, screening funnel, and a bounded reflection loop.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234440" y="4855464"/>
            <a:ext cx="256032" cy="146304"/>
          </a:xfrm>
          <a:prstGeom prst="downArrow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983480"/>
            <a:ext cx="11201400" cy="1078992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983480"/>
            <a:ext cx="1691640" cy="1078992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129784"/>
            <a:ext cx="1554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LAYER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8640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Autonomous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5111496"/>
            <a:ext cx="9052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2B1D5E"/>
                </a:solidFill>
                <a:latin typeface="Calibri"/>
              </a:rPr>
              <a:t>Autonomous manuscript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5486400"/>
            <a:ext cx="9098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A section-writer swarm stitches a reproducible LaTeX paper — every number and figure pulled from the run artifacts, nothing invented.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two graded deliverables — first-class in the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32120" cy="434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32120" cy="6858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0472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Deliverable 1 — Amorphous surface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7B0A8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Protocol. </a:t>
            </a:r>
            <a:r>
              <a:rPr sz="1300">
                <a:solidFill>
                  <a:srgbClr val="222633"/>
                </a:solidFill>
                <a:latin typeface="Calibri"/>
              </a:rPr>
              <a:t>Crystalline-derived slab → element-keyed passivation → geometric bridge anneal (–O– siloxane, –NH– imide).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7B0A8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Explicit target site density </a:t>
            </a:r>
            <a:r>
              <a:rPr sz="1300">
                <a:solidFill>
                  <a:srgbClr val="222633"/>
                </a:solidFill>
                <a:latin typeface="Calibri"/>
              </a:rPr>
              <a:t>per site type, not just “looks amorphous.”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7B0A8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Fidelity gate. </a:t>
            </a:r>
            <a:r>
              <a:rPr sz="1300">
                <a:solidFill>
                  <a:srgbClr val="222633"/>
                </a:solidFill>
                <a:latin typeface="Calibri"/>
              </a:rPr>
              <a:t>Rejects any slab whose per-site densities fall outside the measured acceptance bands before any compute is spent.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7B0A8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Ensembles. </a:t>
            </a:r>
            <a:r>
              <a:rPr sz="1300">
                <a:solidFill>
                  <a:srgbClr val="222633"/>
                </a:solidFill>
                <a:latin typeface="Calibri"/>
              </a:rPr>
              <a:t>N independent slabs per surface → selectivity reported as a distribution, not a fragile point estimate.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5532120" cy="434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417320"/>
            <a:ext cx="5532120" cy="6858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490472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Deliverable 2 — Agentic selection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8600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E6BE6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Retrieve </a:t>
            </a:r>
            <a:r>
              <a:rPr sz="1300">
                <a:solidFill>
                  <a:srgbClr val="222633"/>
                </a:solidFill>
                <a:latin typeface="Calibri"/>
              </a:rPr>
              <a:t>candidate inhibitors/precursors from the knowledge graph.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E6BE6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Site-match. </a:t>
            </a:r>
            <a:r>
              <a:rPr sz="1300">
                <a:solidFill>
                  <a:srgbClr val="222633"/>
                </a:solidFill>
                <a:latin typeface="Calibri"/>
              </a:rPr>
              <a:t>Score how completely an inhibitor passivates the sites the precursor needs on the NGS — while staying inert on the GS.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E6BE6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Rank </a:t>
            </a:r>
            <a:r>
              <a:rPr sz="1300">
                <a:solidFill>
                  <a:srgbClr val="222633"/>
                </a:solidFill>
                <a:latin typeface="Calibri"/>
              </a:rPr>
              <a:t>on differential adsorption, volatility, removability, sterics, and site match, via a human-editable criteria file.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E6BE6"/>
                </a:solidFill>
              </a:rPr>
              <a:t>▪  </a:t>
            </a:r>
            <a:r>
              <a:rPr sz="1300" b="1">
                <a:solidFill>
                  <a:srgbClr val="2B1D5E"/>
                </a:solidFill>
              </a:rPr>
              <a:t>Propose novel candidates </a:t>
            </a:r>
            <a:r>
              <a:rPr sz="1300">
                <a:solidFill>
                  <a:srgbClr val="222633"/>
                </a:solidFill>
                <a:latin typeface="Calibri"/>
              </a:rPr>
              <a:t>with a generative agent; they can never be “supported” on priors alone — they must clear the real-surface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Layer 1 — Deep Research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Swarm mining. </a:t>
            </a:r>
            <a:r>
              <a:rPr sz="1450">
                <a:solidFill>
                  <a:srgbClr val="222633"/>
                </a:solidFill>
                <a:latin typeface="Calibri"/>
              </a:rPr>
              <a:t>Parallel agents mine open scholarly sources by DOI and normalize everything to a single citation schema.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Typed knowledge graph. </a:t>
            </a:r>
            <a:r>
              <a:rPr sz="1450">
                <a:solidFill>
                  <a:srgbClr val="222633"/>
                </a:solidFill>
                <a:latin typeface="Calibri"/>
              </a:rPr>
              <a:t>Site-resolved nodes: Surface (material, phase, site type, density), Inhibitor, Precursor, Mechanism (ΔEr, Ea, byproduct), SelectivityResult.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Seeded anchors. </a:t>
            </a:r>
            <a:r>
              <a:rPr sz="1450">
                <a:solidFill>
                  <a:srgbClr val="222633"/>
                </a:solidFill>
                <a:latin typeface="Calibri"/>
              </a:rPr>
              <a:t>A curated set of real-DOI anchor citations guarantees no run is left without domain-grounded literature; mined papers merge on top.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One graph, three consumers. </a:t>
            </a:r>
            <a:r>
              <a:rPr sz="1450">
                <a:solidFill>
                  <a:srgbClr val="222633"/>
                </a:solidFill>
                <a:latin typeface="Calibri"/>
              </a:rPr>
              <a:t>It feeds hypothesis generation, the selection agent's candidate library and priors, and the manuscript bibliography.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20624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Knowledge-graph node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011680"/>
            <a:ext cx="64008" cy="566928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11680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Surface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011680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2011680"/>
            <a:ext cx="64008" cy="566928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80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Site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779776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779776"/>
            <a:ext cx="64008" cy="566928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779776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Inhibitor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779776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779776"/>
            <a:ext cx="64008" cy="566928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779776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Precursor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547872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3547872"/>
            <a:ext cx="64008" cy="566928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547872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Mechanism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547872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3547872"/>
            <a:ext cx="64008" cy="566928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547872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Byproduct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315968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4315968"/>
            <a:ext cx="64008" cy="566928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315968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SelectivityResult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315968"/>
            <a:ext cx="24231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4315968"/>
            <a:ext cx="64008" cy="566928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315968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Citation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Layer 2 — Human-in-the-loop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The right place for a human. </a:t>
            </a:r>
            <a:r>
              <a:rPr sz="1450">
                <a:solidFill>
                  <a:srgbClr val="222633"/>
                </a:solidFill>
                <a:latin typeface="Calibri"/>
              </a:rPr>
              <a:t>“Which inhibitor/precursor scheme do we commit compute to?” is the expensive branch point — a human gate before the validation spend is the correct antidote to trial-and-error.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Review &amp; commit. </a:t>
            </a:r>
            <a:r>
              <a:rPr sz="1450">
                <a:solidFill>
                  <a:srgbClr val="222633"/>
                </a:solidFill>
                <a:latin typeface="Calibri"/>
              </a:rPr>
              <a:t>The researcher sees the top ranked hypotheses and selects, edits, merges, or redirects.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Structured output. </a:t>
            </a:r>
            <a:r>
              <a:rPr sz="1450">
                <a:solidFill>
                  <a:srgbClr val="222633"/>
                </a:solidFill>
                <a:latin typeface="Calibri"/>
              </a:rPr>
              <a:t>The decision is saved as a structured specification (growth / non-growth surface, inhibitor, precursor, target film, thickness, selectivity threshold, provenance).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17B0A8"/>
                </a:solidFill>
              </a:rPr>
              <a:t>▪  </a:t>
            </a:r>
            <a:r>
              <a:rPr sz="1450" b="1">
                <a:solidFill>
                  <a:srgbClr val="2B1D5E"/>
                </a:solidFill>
              </a:rPr>
              <a:t>Flows downstream. </a:t>
            </a:r>
            <a:r>
              <a:rPr sz="1450">
                <a:solidFill>
                  <a:srgbClr val="222633"/>
                </a:solidFill>
                <a:latin typeface="Calibri"/>
              </a:rPr>
              <a:t>That one record seeds the surface builder, the selection agent, the scoring model, and the manuscript.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02336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Committed specification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57400"/>
            <a:ext cx="48920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57400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Growth 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057400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a-SiO₂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532888"/>
            <a:ext cx="4892040" cy="402336"/>
          </a:xfrm>
          <a:prstGeom prst="roundRect">
            <a:avLst/>
          </a:prstGeom>
          <a:solidFill>
            <a:srgbClr val="E7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2532888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Non-growth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532888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a-SiN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008376"/>
            <a:ext cx="48920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3008376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Inhibitor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08376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committed candidate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483864"/>
            <a:ext cx="4892040" cy="402336"/>
          </a:xfrm>
          <a:prstGeom prst="roundRect">
            <a:avLst/>
          </a:prstGeom>
          <a:solidFill>
            <a:srgbClr val="E7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483864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Precursor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83864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e.g. BDEAS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959352"/>
            <a:ext cx="48920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3959352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Target film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959352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SiOₓ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434840"/>
            <a:ext cx="4892040" cy="402336"/>
          </a:xfrm>
          <a:prstGeom prst="roundRect">
            <a:avLst/>
          </a:prstGeom>
          <a:solidFill>
            <a:srgbClr val="E7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4434840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Target thickness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434840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10 nm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910328"/>
            <a:ext cx="489204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4910328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Target selectivity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910328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≥ 90%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Amorphous surface builder + fidelity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737360" cy="868680"/>
          </a:xfrm>
          <a:prstGeom prst="round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554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Seed bulk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58568" y="1746504"/>
            <a:ext cx="164592" cy="201168"/>
          </a:xfrm>
          <a:prstGeom prst="rightArrow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41448" y="1417320"/>
            <a:ext cx="1737360" cy="868680"/>
          </a:xfrm>
          <a:prstGeom prst="round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1508760"/>
            <a:ext cx="1554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Cleave + vacuum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97096" y="1746504"/>
            <a:ext cx="164592" cy="201168"/>
          </a:xfrm>
          <a:prstGeom prst="rightArrow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1417320"/>
            <a:ext cx="1737360" cy="868680"/>
          </a:xfrm>
          <a:prstGeom prst="round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508760"/>
            <a:ext cx="1554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Passivate sites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35624" y="1746504"/>
            <a:ext cx="164592" cy="201168"/>
          </a:xfrm>
          <a:prstGeom prst="rightArrow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1417320"/>
            <a:ext cx="1737360" cy="868680"/>
          </a:xfrm>
          <a:prstGeom prst="round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508760"/>
            <a:ext cx="1554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Bridge anneal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74152" y="1746504"/>
            <a:ext cx="164592" cy="201168"/>
          </a:xfrm>
          <a:prstGeom prst="rightArrow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57032" y="1417320"/>
            <a:ext cx="1737360" cy="868680"/>
          </a:xfrm>
          <a:prstGeom prst="round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508760"/>
            <a:ext cx="1554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Fidelity gate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012680" y="1746504"/>
            <a:ext cx="164592" cy="201168"/>
          </a:xfrm>
          <a:prstGeom prst="rightArrow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95560" y="1417320"/>
            <a:ext cx="1737360" cy="868680"/>
          </a:xfrm>
          <a:prstGeom prst="round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1508760"/>
            <a:ext cx="1554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Ensemble of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514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B1D5E"/>
                </a:solidFill>
                <a:latin typeface="Calibri"/>
              </a:rPr>
              <a:t>The gate is the load-bearing rigor element — pathological surfaces are thrown out before any expensive reactivity call.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1874519" cy="512064"/>
          </a:xfrm>
          <a:prstGeom prst="rect">
            <a:avLst/>
          </a:prstGeom>
          <a:solidFill>
            <a:srgbClr val="2B1D5E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108960"/>
            <a:ext cx="16916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108960"/>
            <a:ext cx="2468880" cy="512064"/>
          </a:xfrm>
          <a:prstGeom prst="rect">
            <a:avLst/>
          </a:prstGeom>
          <a:solidFill>
            <a:srgbClr val="2B1D5E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3108960"/>
            <a:ext cx="22860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4023360" cy="512064"/>
          </a:xfrm>
          <a:prstGeom prst="rect">
            <a:avLst/>
          </a:prstGeom>
          <a:solidFill>
            <a:srgbClr val="2B1D5E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3108960"/>
            <a:ext cx="38404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Acceptance band (nm⁻²)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3108960"/>
            <a:ext cx="2834640" cy="512064"/>
          </a:xfrm>
          <a:prstGeom prst="rect">
            <a:avLst/>
          </a:prstGeom>
          <a:solidFill>
            <a:srgbClr val="2B1D5E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8" y="3108960"/>
            <a:ext cx="26517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Crystalline ref.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621024"/>
            <a:ext cx="1874519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3621024"/>
            <a:ext cx="16916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a-SiO₂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3621024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7168" y="3621024"/>
            <a:ext cx="22860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–OH silanol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621024"/>
            <a:ext cx="4023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621024"/>
            <a:ext cx="38404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~4.5 – 7.5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3621024"/>
            <a:ext cx="2834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3621024"/>
            <a:ext cx="26517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9.57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33088"/>
            <a:ext cx="1874519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133088"/>
            <a:ext cx="16916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a-SiO₂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133088"/>
            <a:ext cx="2468880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7168" y="4133088"/>
            <a:ext cx="22860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–O– siloxane bridge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4133088"/>
            <a:ext cx="4023360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56048" y="4133088"/>
            <a:ext cx="38404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~2.0 – 6.0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4133088"/>
            <a:ext cx="2834640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79408" y="4133088"/>
            <a:ext cx="26517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645152"/>
            <a:ext cx="1874519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" y="4645152"/>
            <a:ext cx="16916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a-SiN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77440" y="4645152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87168" y="4645152"/>
            <a:ext cx="22860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–NH₂ amine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4645152"/>
            <a:ext cx="4023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56048" y="4645152"/>
            <a:ext cx="38404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~2.5 – 5.5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4645152"/>
            <a:ext cx="2834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79408" y="4645152"/>
            <a:ext cx="26517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5.97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157216"/>
            <a:ext cx="1874519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5157216"/>
            <a:ext cx="16916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a-SiN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77440" y="5157216"/>
            <a:ext cx="2468880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87168" y="5157216"/>
            <a:ext cx="22860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–NH– imide bridge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46320" y="5157216"/>
            <a:ext cx="4023360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56048" y="5157216"/>
            <a:ext cx="38404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~2.0 – 5.5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69680" y="5157216"/>
            <a:ext cx="2834640" cy="512064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79408" y="5157216"/>
            <a:ext cx="26517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Site-matched selection — not strongest-binder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The key insight. </a:t>
            </a:r>
            <a:r>
              <a:rPr sz="1400">
                <a:solidFill>
                  <a:srgbClr val="222633"/>
                </a:solidFill>
                <a:latin typeface="Calibri"/>
              </a:rPr>
              <a:t>A good inhibitor must passivate the specific sites the precursor attacks on the NGS — ranking on raw binding strength selects the wrong pair.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Terminal vs bridge. </a:t>
            </a:r>
            <a:r>
              <a:rPr sz="1400">
                <a:solidFill>
                  <a:srgbClr val="222633"/>
                </a:solidFill>
                <a:latin typeface="Calibri"/>
              </a:rPr>
              <a:t>Some inhibitors passivate terminal sites easily but not bridge sites; whether that is enough depends on which sites the precursor uses.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Directional chemistry. </a:t>
            </a:r>
            <a:r>
              <a:rPr sz="1400">
                <a:solidFill>
                  <a:srgbClr val="222633"/>
                </a:solidFill>
                <a:latin typeface="Calibri"/>
              </a:rPr>
              <a:t>Head-group chemistry is directional — some families prefer oxide (–OH), others nitride (–NH₂/–NH).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Honest ranking. </a:t>
            </a:r>
            <a:r>
              <a:rPr sz="1400">
                <a:solidFill>
                  <a:srgbClr val="222633"/>
                </a:solidFill>
                <a:latin typeface="Calibri"/>
              </a:rPr>
              <a:t>The committed molecule is not auto-promoted; every candidate competes, and unevidenced ones are flagged and ranked below evidenced 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20624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Ranking axes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57400"/>
            <a:ext cx="48920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057400"/>
            <a:ext cx="64008" cy="50292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057400"/>
            <a:ext cx="46177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22633"/>
                </a:solidFill>
                <a:latin typeface="Calibri"/>
              </a:rPr>
              <a:t>Differential adsorption (chemisorb NGS / physisorb GS)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624328"/>
            <a:ext cx="48920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624328"/>
            <a:ext cx="64008" cy="5029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624328"/>
            <a:ext cx="46177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22633"/>
                </a:solidFill>
                <a:latin typeface="Calibri"/>
              </a:rPr>
              <a:t>Site-match to the precursor's preferred 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191256"/>
            <a:ext cx="48920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191256"/>
            <a:ext cx="64008" cy="50292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191256"/>
            <a:ext cx="46177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22633"/>
                </a:solidFill>
                <a:latin typeface="Calibri"/>
              </a:rPr>
              <a:t>Volatility — dosable from vapor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758184"/>
            <a:ext cx="48920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758184"/>
            <a:ext cx="64008" cy="502920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758184"/>
            <a:ext cx="46177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22633"/>
                </a:solidFill>
                <a:latin typeface="Calibri"/>
              </a:rPr>
              <a:t>Removability after growth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325112"/>
            <a:ext cx="48920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4325112"/>
            <a:ext cx="64008" cy="50292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325112"/>
            <a:ext cx="46177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22633"/>
                </a:solidFill>
                <a:latin typeface="Calibri"/>
              </a:rPr>
              <a:t>Steric blocking footprint of the tail group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892040"/>
            <a:ext cx="48920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4892040"/>
            <a:ext cx="64008" cy="5029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892040"/>
            <a:ext cx="46177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22633"/>
                </a:solidFill>
                <a:latin typeface="Calibri"/>
              </a:rPr>
              <a:t>Literature grounding in the knowledge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SCREENING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From single test to a batch screening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201400" cy="749808"/>
          </a:xfrm>
          <a:prstGeom prst="round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112014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112014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10–50 candidates: library + mined + AI-proposed novel molecules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71032" y="2203704"/>
            <a:ext cx="256032" cy="128016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8740" y="2386584"/>
            <a:ext cx="9509760" cy="749808"/>
          </a:xfrm>
          <a:prstGeom prst="round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8740" y="2459736"/>
            <a:ext cx="95097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Tier-0 prior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8740" y="2788920"/>
            <a:ext cx="9509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All N ranked by the heuristic — honest, no committed pin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71032" y="3127248"/>
            <a:ext cx="256032" cy="128016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54580" y="3310128"/>
            <a:ext cx="7498079" cy="749808"/>
          </a:xfrm>
          <a:prstGeom prst="round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4580" y="3383280"/>
            <a:ext cx="7498079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MLIP batch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4580" y="3712464"/>
            <a:ext cx="7498079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Shortlist scored on shared, seed-identical gated slabs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71032" y="4050792"/>
            <a:ext cx="256032" cy="128016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97580" y="4233672"/>
            <a:ext cx="5212080" cy="749808"/>
          </a:xfrm>
          <a:prstGeom prst="round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7580" y="4306824"/>
            <a:ext cx="52120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Full-fidelity top-k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80" y="4636008"/>
            <a:ext cx="5212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Best few re-run at full ensemble fidelity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71032" y="4974336"/>
            <a:ext cx="256032" cy="128016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49140" y="5157216"/>
            <a:ext cx="3108960" cy="749808"/>
          </a:xfrm>
          <a:prstGeom prst="roundRect">
            <a:avLst/>
          </a:prstGeom>
          <a:solidFill>
            <a:srgbClr val="D6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9140" y="5230368"/>
            <a:ext cx="31089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9140" y="5559552"/>
            <a:ext cx="3108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Agent names the winner, runners-up, risks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SCREENING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makes the campaign trustworthy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32120" cy="196596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32120" cy="50292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72184"/>
            <a:ext cx="5166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Apples-to-apples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507492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Every candidate is scored on the SAME seed-identical gated slab ensembles — differences are chemistry, not surface luck. Slabs are built once per campaign, not per molecule.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532120" cy="196596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532120" cy="5029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72184"/>
            <a:ext cx="5166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Honest competition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39112"/>
            <a:ext cx="507492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No candidate is auto-promoted. The committed hypothesis molecule is always screened, and the recommendation states plainly whether it won or lost — and to whom.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5532120" cy="196596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5532120" cy="502920"/>
          </a:xfrm>
          <a:prstGeom prst="rect">
            <a:avLst/>
          </a:prstGeom>
          <a:solidFill>
            <a:srgbClr val="4C3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21024"/>
            <a:ext cx="5166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Evidence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87952"/>
            <a:ext cx="507492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Extrapolated, missing, or AI-proposed priors are flagged and cannot be reported as “supported” on priors alone; a calibration delta is carried on every energetics 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532120" cy="196596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66160"/>
            <a:ext cx="5532120" cy="502920"/>
          </a:xfrm>
          <a:prstGeom prst="rect">
            <a:avLst/>
          </a:prstGeom>
          <a:solidFill>
            <a:srgbClr val="D6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21024"/>
            <a:ext cx="5166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Agent can't cheat physics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87952"/>
            <a:ext cx="507492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The recommendation agent may narrate risk and context, but a guard forces the winner to be the top candidate by computed selectivity — it can never override the numbers.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in-silico testing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7589520" cy="841248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600200"/>
            <a:ext cx="475488" cy="475488"/>
          </a:xfrm>
          <a:prstGeom prst="ellipse">
            <a:avLst/>
          </a:prstGeom>
          <a:solidFill>
            <a:srgbClr val="2B1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47548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27048"/>
            <a:ext cx="6583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Build &amp; gate 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47088"/>
            <a:ext cx="6629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Ensemble of N growth + N non-growth slabs; each passed through the fidelity gate, failures discarded.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0008"/>
            <a:ext cx="7589520" cy="841248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532888"/>
            <a:ext cx="475488" cy="475488"/>
          </a:xfrm>
          <a:prstGeom prst="ellipse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32888"/>
            <a:ext cx="47548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59736"/>
            <a:ext cx="6583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Site-resolved reactivity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79776"/>
            <a:ext cx="6629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Per-site reaction energy ΔEr (and barrier Ea where available) for the inhibitor on each surface.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82696"/>
            <a:ext cx="7589520" cy="841248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3465576"/>
            <a:ext cx="475488" cy="475488"/>
          </a:xfrm>
          <a:prstGeom prst="ellipse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65576"/>
            <a:ext cx="47548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92424"/>
            <a:ext cx="6583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Effective blocking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12464"/>
            <a:ext cx="6629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Blocking = Σ (site fraction × reactivity), counting only chemisorbed, purge-surviving inhibitor.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15384"/>
            <a:ext cx="7589520" cy="841248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4398264"/>
            <a:ext cx="475488" cy="475488"/>
          </a:xfrm>
          <a:prstGeom prst="ellipse">
            <a:avLst/>
          </a:prstGeom>
          <a:solidFill>
            <a:srgbClr val="6A4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398264"/>
            <a:ext cx="47548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25112"/>
            <a:ext cx="6583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Precursor barrier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45152"/>
            <a:ext cx="6629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Higher-tier barrier check on clean vs inhibited surface, reported explicitly as a lower bound.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48072"/>
            <a:ext cx="7589520" cy="841248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5330952"/>
            <a:ext cx="475488" cy="475488"/>
          </a:xfrm>
          <a:prstGeom prst="ellipse">
            <a:avLst/>
          </a:prstGeom>
          <a:solidFill>
            <a:srgbClr val="2B1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30952"/>
            <a:ext cx="47548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6583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Selectivity &amp; verdict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577840"/>
            <a:ext cx="66294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070"/>
                </a:solidFill>
                <a:latin typeface="Calibri"/>
              </a:rPr>
              <a:t>Differential blocking → nucleation delay → S(N); report S at 10 nm as mean ± std with a calibration flag.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1417320"/>
            <a:ext cx="3456432" cy="4590288"/>
          </a:xfrm>
          <a:prstGeom prst="round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60020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7B0A8"/>
                </a:solidFill>
                <a:latin typeface="Calibri"/>
              </a:rPr>
              <a:t>The selectivity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148840"/>
            <a:ext cx="301752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Differential blocking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C7CEF2"/>
                </a:solidFill>
                <a:latin typeface="Calibri"/>
              </a:rPr>
              <a:t>θ_block(NGS) − θ_block(GS)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D6DCF5"/>
                </a:solidFill>
                <a:latin typeface="Calibri"/>
              </a:rPr>
              <a:t>— not raw Langmuir coverage, which saturates at process temperature and falsely washes out selectivity.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617720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Every intermediate is logged, so each number in the paper traces to a computation.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Tiered compute — runs on a laptop or a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39312" cy="420624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3639312" cy="86868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363931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Tier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363931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EF1FB"/>
                </a:solidFill>
                <a:latin typeface="Calibri"/>
              </a:rPr>
              <a:t>Anywhere · no 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31363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7B0A8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Fidelity gate + site-resolved blocking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7B0A8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Literature / semi-empirical energy priors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7B0A8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Full selectivity + verdict, fully reproducible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463040"/>
            <a:ext cx="3639312" cy="420624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463040"/>
            <a:ext cx="3639312" cy="8686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572768"/>
            <a:ext cx="363931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975104"/>
            <a:ext cx="363931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EF1FB"/>
                </a:solidFill>
                <a:latin typeface="Calibri"/>
              </a:rPr>
              <a:t>GPU or 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31363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2E6BE6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Real 3D molecules on gated slabs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2E6BE6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Foundation-MLIP multi-site adsorption search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2E6BE6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Reaction-energy endpoints on real surfaces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463040"/>
            <a:ext cx="3639312" cy="420624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1463040"/>
            <a:ext cx="3639312" cy="868680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572768"/>
            <a:ext cx="363931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1975104"/>
            <a:ext cx="363931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EF1FB"/>
                </a:solidFill>
                <a:latin typeface="Calibri"/>
              </a:rPr>
              <a:t>Optional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560320"/>
            <a:ext cx="31363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6A4CC8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Semi-empirical (xTB) cross-check on top-k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6A4CC8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Flags large model-vs-reference disagreement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6A4CC8"/>
                </a:solidFill>
              </a:rPr>
              <a:t>▪  </a:t>
            </a:r>
            <a:r>
              <a:rPr sz="1300">
                <a:solidFill>
                  <a:srgbClr val="222633"/>
                </a:solidFill>
                <a:latin typeface="Calibri"/>
              </a:rPr>
              <a:t>Calibration validity flag on the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1D5E"/>
                </a:solidFill>
                <a:latin typeface="Calibri"/>
              </a:rPr>
              <a:t>Discipline throughout:  </a:t>
            </a:r>
            <a:r>
              <a:rPr sz="1250" b="0" i="0">
                <a:solidFill>
                  <a:srgbClr val="5B6070"/>
                </a:solidFill>
                <a:latin typeface="Calibri"/>
              </a:rPr>
              <a:t>foundation-model barriers are treated as lower bounds, and every energetics value carries a predicted-vs-reference delta — never hidden.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Layer 4 — the co-scientist authors its own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Section-writer swarm. </a:t>
            </a:r>
            <a:r>
              <a:rPr sz="1400">
                <a:solidFill>
                  <a:srgbClr val="222633"/>
                </a:solidFill>
                <a:latin typeface="Calibri"/>
              </a:rPr>
              <a:t>One agent per section (abstract, intro, methods, results, discussion, limitations, conclusion) fans out in parallel.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No invented numbers. </a:t>
            </a:r>
            <a:r>
              <a:rPr sz="1400">
                <a:solidFill>
                  <a:srgbClr val="222633"/>
                </a:solidFill>
                <a:latin typeface="Calibri"/>
              </a:rPr>
              <a:t>Every quantitative statement is grounded in the run artifacts; missing values are written as “not recorded,” never guessed.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Real bibliography. </a:t>
            </a:r>
            <a:r>
              <a:rPr sz="1400">
                <a:solidFill>
                  <a:srgbClr val="222633"/>
                </a:solidFill>
                <a:latin typeface="Calibri"/>
              </a:rPr>
              <a:t>Citations come from the literature mined in Layer 1 — actual DOIs, not model-generated references.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Campaign-aware. </a:t>
            </a:r>
            <a:r>
              <a:rPr sz="1400">
                <a:solidFill>
                  <a:srgbClr val="222633"/>
                </a:solidFill>
                <a:latin typeface="Calibri"/>
              </a:rPr>
              <a:t>With the screening funnel, the paper presents the whole campaign (comparison table + ranked figure) then the winner deep-dive.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Deterministic fallback. </a:t>
            </a:r>
            <a:r>
              <a:rPr sz="1400">
                <a:solidFill>
                  <a:srgbClr val="222633"/>
                </a:solidFill>
                <a:latin typeface="Calibri"/>
              </a:rPr>
              <a:t>Offline mode writes the full paper without a key, so the manuscript is always reproducible.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20624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Generated manuscript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011680"/>
            <a:ext cx="64008" cy="54864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11680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Abstract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11680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11680"/>
            <a:ext cx="64008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011680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Introduction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670048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670048"/>
            <a:ext cx="64008" cy="54864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670048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System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670048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70048"/>
            <a:ext cx="64008" cy="548640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670048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Methods: surfaces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328416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3328416"/>
            <a:ext cx="64008" cy="54864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328416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Methods: selection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328416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3328416"/>
            <a:ext cx="64008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328416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Methods: protocol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986784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3986784"/>
            <a:ext cx="64008" cy="54864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986784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Results + screening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986784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3986784"/>
            <a:ext cx="64008" cy="548640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3986784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Discussion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4645152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4645152"/>
            <a:ext cx="64008" cy="54864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4645152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4645152"/>
            <a:ext cx="2377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4645152"/>
            <a:ext cx="64008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4645152"/>
            <a:ext cx="2148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Reproducibility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RESULTS &amp;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Example screening campaign (illustrative run)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22633"/>
                </a:solidFill>
                <a:latin typeface="Calibri"/>
              </a:rPr>
              <a:t>A 12-candidate pool was screened on shared slabs; the best two were re-run at full fidelity and the recommendation agent selected the winner. </a:t>
            </a:r>
            <a:r>
              <a:rPr sz="1300" b="1" i="0">
                <a:solidFill>
                  <a:srgbClr val="5B6070"/>
                </a:solidFill>
                <a:latin typeface="Calibri"/>
              </a:rPr>
              <a:t>Numbers are a pipeline demonstration, not a quantitative claim.</a:t>
            </a:r>
          </a:p>
        </p:txBody>
      </p:sp>
      <p:pic>
        <p:nvPicPr>
          <p:cNvPr id="9" name="Picture 8" descr="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568695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6480" y="1874519"/>
            <a:ext cx="5577840" cy="402336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Computed selectivity, ranked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68880"/>
            <a:ext cx="2514600" cy="512064"/>
          </a:xfrm>
          <a:prstGeom prst="rect">
            <a:avLst/>
          </a:prstGeom>
          <a:solidFill>
            <a:srgbClr val="2B1D5E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377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Candidate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468880"/>
            <a:ext cx="960120" cy="512064"/>
          </a:xfrm>
          <a:prstGeom prst="rect">
            <a:avLst/>
          </a:prstGeom>
          <a:solidFill>
            <a:srgbClr val="2B1D5E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8229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800" y="2468880"/>
            <a:ext cx="777240" cy="512064"/>
          </a:xfrm>
          <a:prstGeom prst="rect">
            <a:avLst/>
          </a:prstGeom>
          <a:solidFill>
            <a:srgbClr val="2B1D5E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468880"/>
            <a:ext cx="6400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468880"/>
            <a:ext cx="1143000" cy="512064"/>
          </a:xfrm>
          <a:prstGeom prst="rect">
            <a:avLst/>
          </a:prstGeom>
          <a:solidFill>
            <a:srgbClr val="2B1D5E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60" y="2468880"/>
            <a:ext cx="1005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980944"/>
            <a:ext cx="2514600" cy="512064"/>
          </a:xfrm>
          <a:prstGeom prst="rect">
            <a:avLst/>
          </a:prstGeom>
          <a:solidFill>
            <a:srgbClr val="E7EAF6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80944"/>
            <a:ext cx="2377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acetic acid  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980944"/>
            <a:ext cx="960120" cy="512064"/>
          </a:xfrm>
          <a:prstGeom prst="rect">
            <a:avLst/>
          </a:prstGeom>
          <a:solidFill>
            <a:srgbClr val="E7EAF6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980944"/>
            <a:ext cx="8229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full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2980944"/>
            <a:ext cx="777240" cy="512064"/>
          </a:xfrm>
          <a:prstGeom prst="rect">
            <a:avLst/>
          </a:prstGeom>
          <a:solidFill>
            <a:srgbClr val="E7EAF6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980944"/>
            <a:ext cx="6400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2633"/>
                </a:solidFill>
                <a:latin typeface="Calibri"/>
              </a:rPr>
              <a:t>0.923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20" y="2980944"/>
            <a:ext cx="1143000" cy="512064"/>
          </a:xfrm>
          <a:prstGeom prst="rect">
            <a:avLst/>
          </a:prstGeom>
          <a:solidFill>
            <a:srgbClr val="E7EAF6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60" y="2980944"/>
            <a:ext cx="1005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CA055"/>
                </a:solidFill>
                <a:latin typeface="Calibri"/>
              </a:rPr>
              <a:t>supported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493008"/>
            <a:ext cx="251460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2377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pivalic acid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493008"/>
            <a:ext cx="96012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493008"/>
            <a:ext cx="8229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batch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3493008"/>
            <a:ext cx="77724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3493008"/>
            <a:ext cx="6400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0.923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61320" y="3493008"/>
            <a:ext cx="114300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2760" y="3493008"/>
            <a:ext cx="1005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3CA055"/>
                </a:solidFill>
                <a:latin typeface="Calibri"/>
              </a:rPr>
              <a:t>supported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005072"/>
            <a:ext cx="2514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005072"/>
            <a:ext cx="2377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methanesulfonic acid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4005072"/>
            <a:ext cx="960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4005072"/>
            <a:ext cx="8229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full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800" y="4005072"/>
            <a:ext cx="777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4005072"/>
            <a:ext cx="6400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0.923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61320" y="4005072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52760" y="4005072"/>
            <a:ext cx="1005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3CA055"/>
                </a:solidFill>
                <a:latin typeface="Calibri"/>
              </a:rPr>
              <a:t>supported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517136"/>
            <a:ext cx="251460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517136"/>
            <a:ext cx="2377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4517136"/>
            <a:ext cx="96012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4517136"/>
            <a:ext cx="8229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batch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4517136"/>
            <a:ext cx="77724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1240" y="4517136"/>
            <a:ext cx="6400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0.656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61320" y="4517136"/>
            <a:ext cx="1143000" cy="512064"/>
          </a:xfrm>
          <a:prstGeom prst="rect">
            <a:avLst/>
          </a:prstGeom>
          <a:solidFill>
            <a:srgbClr val="F1F3F9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52760" y="4517136"/>
            <a:ext cx="1005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D62C2C"/>
                </a:solidFill>
                <a:latin typeface="Calibri"/>
              </a:rPr>
              <a:t>rejected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5029200"/>
            <a:ext cx="2514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5029200"/>
            <a:ext cx="2377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aniline (committed)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5029200"/>
            <a:ext cx="960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5029200"/>
            <a:ext cx="8229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batch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29800" y="5029200"/>
            <a:ext cx="777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21240" y="5029200"/>
            <a:ext cx="6400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2633"/>
                </a:solidFill>
                <a:latin typeface="Calibri"/>
              </a:rPr>
              <a:t>0.229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61320" y="502920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52760" y="5029200"/>
            <a:ext cx="1005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D62C2C"/>
                </a:solidFill>
                <a:latin typeface="Calibri"/>
              </a:rPr>
              <a:t>rejected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548640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Recommendation: </a:t>
            </a:r>
            <a:r>
              <a:rPr sz="1200" b="0" i="0">
                <a:solidFill>
                  <a:srgbClr val="5B6070"/>
                </a:solidFill>
                <a:latin typeface="Calibri"/>
              </a:rPr>
              <a:t>winner beats the committed molecule; the outcome is stated honestly.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RESULTS &amp;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Reproducibility &amp;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Everything is pinned. </a:t>
            </a:r>
            <a:r>
              <a:rPr sz="1400">
                <a:solidFill>
                  <a:srgbClr val="222633"/>
                </a:solidFill>
                <a:latin typeface="Calibri"/>
              </a:rPr>
              <a:t>Random seeds, compute tier, model/device/dtype, slab source and supercell, temperature, dose time, ensemble size, package versions — all logged.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Artifacts per run. </a:t>
            </a:r>
            <a:r>
              <a:rPr sz="1400">
                <a:solidFill>
                  <a:srgbClr val="222633"/>
                </a:solidFill>
                <a:latin typeface="Calibri"/>
              </a:rPr>
              <a:t>Structured JSON for the plan, per-candidate results, surface fidelity, the screening campaign, and the recommendation.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Knowledge-graph linkage. </a:t>
            </a:r>
            <a:r>
              <a:rPr sz="1400">
                <a:solidFill>
                  <a:srgbClr val="222633"/>
                </a:solidFill>
                <a:latin typeface="Calibri"/>
              </a:rPr>
              <a:t>Results link back into the graph so every claim resolves to a logged computation and every prior to a source.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00" b="1">
                <a:solidFill>
                  <a:srgbClr val="17B0A8"/>
                </a:solidFill>
              </a:rPr>
              <a:t>▪  </a:t>
            </a:r>
            <a:r>
              <a:rPr sz="1400" b="1">
                <a:solidFill>
                  <a:srgbClr val="2B1D5E"/>
                </a:solidFill>
              </a:rPr>
              <a:t>Containerized. </a:t>
            </a:r>
            <a:r>
              <a:rPr sz="1400">
                <a:solidFill>
                  <a:srgbClr val="222633"/>
                </a:solidFill>
                <a:latin typeface="Calibri"/>
              </a:rPr>
              <a:t>A Docker image + locked environment reproduce the funnel end-to-end; a judge can re-run and recover the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20624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1D5E"/>
                </a:solidFill>
                <a:latin typeface="Calibri"/>
              </a:rPr>
              <a:t>Key run artifacts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57400"/>
            <a:ext cx="4892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057400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05740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official_hypothesis.json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578607"/>
            <a:ext cx="4892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578607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578607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screening_results.json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099814"/>
            <a:ext cx="4892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99814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099814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recommendation.json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621021"/>
            <a:ext cx="4892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621021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621021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asald_results.json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142228"/>
            <a:ext cx="4892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4142228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142228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surface_fidelity.json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663435"/>
            <a:ext cx="4892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4663435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663435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validation_results.json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184642"/>
            <a:ext cx="4892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5184642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184642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manuscript.tex / .pdf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RESULTS &amp;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How the system meets Challenge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4617720" cy="548640"/>
          </a:xfrm>
          <a:prstGeom prst="rect">
            <a:avLst/>
          </a:prstGeom>
          <a:solidFill>
            <a:srgbClr val="2B1D5E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17320"/>
            <a:ext cx="4343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Challenge 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417320"/>
            <a:ext cx="6446520" cy="548640"/>
          </a:xfrm>
          <a:prstGeom prst="rect">
            <a:avLst/>
          </a:prstGeom>
          <a:solidFill>
            <a:srgbClr val="2B1D5E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1417320"/>
            <a:ext cx="6172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How the co-scientist delivers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4617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65960"/>
            <a:ext cx="43434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Amorphous surface builder that better
reflects experimental surfaces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965960"/>
            <a:ext cx="6446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1965960"/>
            <a:ext cx="61722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Site-density target + fidelity gate against measured bands; ensembles of slabs; no over-counted sites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07208"/>
            <a:ext cx="4617720" cy="841248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807208"/>
            <a:ext cx="43434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Agentic inhibitor / precursor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2807208"/>
            <a:ext cx="6446520" cy="841248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2392" y="2807208"/>
            <a:ext cx="61722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ReAct selection agent + generative proposer, site-matched and steerable via a criteria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48456"/>
            <a:ext cx="4617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648456"/>
            <a:ext cx="43434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90% selectivity at 10 nm oxide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3648456"/>
            <a:ext cx="6446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2392" y="3648456"/>
            <a:ext cx="61722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Site-resolved blocking → nucleation delay → S(N) reported at 10 nm as mean ± std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89704"/>
            <a:ext cx="4617720" cy="841248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489704"/>
            <a:ext cx="43434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In-silico testing with computed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4489704"/>
            <a:ext cx="6446520" cy="841248"/>
          </a:xfrm>
          <a:prstGeom prst="rect">
            <a:avLst/>
          </a:prstGeom>
          <a:solidFill>
            <a:srgbClr val="F1F3F9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22392" y="4489704"/>
            <a:ext cx="61722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Five-step protocol emitting a full JSON record; batch campaign over 10–50 candidates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30952"/>
            <a:ext cx="4617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5330952"/>
            <a:ext cx="43434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1" i="0">
                <a:solidFill>
                  <a:srgbClr val="2B1D5E"/>
                </a:solidFill>
                <a:latin typeface="Calibri"/>
              </a:rPr>
              <a:t>Reproducible, Python, easy to 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5330952"/>
            <a:ext cx="6446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22392" y="5330952"/>
            <a:ext cx="61722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222633"/>
                </a:solidFill>
                <a:latin typeface="Calibri"/>
              </a:rPr>
              <a:t>Pinned provenance, Docker, CLI + Gradio UI, deterministic offline mode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RESULTS &amp;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Technology &amp; agentic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724912" cy="411480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2724912" cy="64008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2724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3134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B1D5E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LangGraph state machines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B1D5E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Supervisor + Swarm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B1D5E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ReAct designer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B1D5E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Reflection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463040"/>
            <a:ext cx="2724912" cy="411480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463040"/>
            <a:ext cx="2724912" cy="640080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536192"/>
            <a:ext cx="2724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Atomistic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31720"/>
            <a:ext cx="23134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ASE + foundation MLIP (MACE)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rdkit molecules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pymatgen slabs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17B0A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xTB cross-check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463040"/>
            <a:ext cx="2724912" cy="411480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463040"/>
            <a:ext cx="2724912" cy="6400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536192"/>
            <a:ext cx="2724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Data &amp;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31720"/>
            <a:ext cx="23134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E6BE6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Typed knowledge graph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E6BE6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Pydantic schemas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E6BE6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Scholarly source clients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2E6BE6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Provenance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463040"/>
            <a:ext cx="2724912" cy="411480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1463040"/>
            <a:ext cx="2724912" cy="640080"/>
          </a:xfrm>
          <a:prstGeom prst="rect">
            <a:avLst/>
          </a:prstGeom>
          <a:solidFill>
            <a:srgbClr val="6A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536192"/>
            <a:ext cx="2724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2331720"/>
            <a:ext cx="23134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6A4CC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CLI (3 entry points)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6A4CC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Gradio web UI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6A4CC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LaTeX manuscript stitcher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250" b="1">
                <a:solidFill>
                  <a:srgbClr val="6A4CC8"/>
                </a:solidFill>
              </a:rPr>
              <a:t>▪  </a:t>
            </a:r>
            <a:r>
              <a:rPr sz="1250">
                <a:solidFill>
                  <a:srgbClr val="222633"/>
                </a:solidFill>
                <a:latin typeface="Calibri"/>
              </a:rPr>
              <a:t>Docker + locked env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201400" cy="86868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82496"/>
            <a:ext cx="420624" cy="420624"/>
          </a:xfrm>
          <a:prstGeom prst="ellipse">
            <a:avLst/>
          </a:prstGeom>
          <a:solidFill>
            <a:srgbClr val="2B1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82496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81912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An end-to-end co-scientist.  </a:t>
            </a:r>
            <a:r>
              <a:rPr sz="1300" b="0" i="0">
                <a:solidFill>
                  <a:srgbClr val="222633"/>
                </a:solidFill>
                <a:latin typeface="Calibri"/>
              </a:rPr>
              <a:t>Research idea → hypotheses → human commitment → batch in-silico screening → recommendation → reproducible paper.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23160"/>
            <a:ext cx="11201400" cy="86868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642616"/>
            <a:ext cx="420624" cy="420624"/>
          </a:xfrm>
          <a:prstGeom prst="ellipse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42616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542032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Both graded deliverables are first-class.  </a:t>
            </a:r>
            <a:r>
              <a:rPr sz="1300" b="0" i="0">
                <a:solidFill>
                  <a:srgbClr val="222633"/>
                </a:solidFill>
                <a:latin typeface="Calibri"/>
              </a:rPr>
              <a:t>A fidelity-gated amorphous surface builder and an agentic, site-matched selection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11201400" cy="86868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602736"/>
            <a:ext cx="420624" cy="420624"/>
          </a:xfrm>
          <a:prstGeom prst="ellipse">
            <a:avLst/>
          </a:prstGeom>
          <a:solidFill>
            <a:srgbClr val="17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02736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502152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The stated risk is the moat.  </a:t>
            </a:r>
            <a:r>
              <a:rPr sz="1300" b="0" i="0">
                <a:solidFill>
                  <a:srgbClr val="222633"/>
                </a:solidFill>
                <a:latin typeface="Calibri"/>
              </a:rPr>
              <a:t>Surface-model fidelity dominates results, so the gate + ensembles + calibration flags are the centerpiece.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43400"/>
            <a:ext cx="11201400" cy="86868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562856"/>
            <a:ext cx="420624" cy="420624"/>
          </a:xfrm>
          <a:prstGeom prst="ellipse">
            <a:avLst/>
          </a:prstGeom>
          <a:solidFill>
            <a:srgbClr val="6A4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62856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62272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A real screening funnel.  </a:t>
            </a:r>
            <a:r>
              <a:rPr sz="1300" b="0" i="0">
                <a:solidFill>
                  <a:srgbClr val="222633"/>
                </a:solidFill>
                <a:latin typeface="Calibri"/>
              </a:rPr>
              <a:t>10–50 candidates on shared slabs, honest competition, and a recommendation agent that can't override the physics.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03520"/>
            <a:ext cx="11201400" cy="868680"/>
          </a:xfrm>
          <a:prstGeom prst="round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522976"/>
            <a:ext cx="420624" cy="420624"/>
          </a:xfrm>
          <a:prstGeom prst="ellipse">
            <a:avLst/>
          </a:prstGeom>
          <a:solidFill>
            <a:srgbClr val="2B1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522976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22392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1D5E"/>
                </a:solidFill>
                <a:latin typeface="Calibri"/>
              </a:rPr>
              <a:t>Trustworthy by construction.  </a:t>
            </a:r>
            <a:r>
              <a:rPr sz="1300" b="0" i="0">
                <a:solidFill>
                  <a:srgbClr val="222633"/>
                </a:solidFill>
                <a:latin typeface="Calibri"/>
              </a:rPr>
              <a:t>Every number traces to a logged computation; every prior to a source; the whole run re-runs from pinned provenance.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Domain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Literature and methods that ground the system (kept off the content slides by design).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Kim, Kim, Hahm, Kwon, Park, Hong &amp; Han. A computational study for screening high-selectivity inhibitors in area-selective ALD on amorphous surfaces. Applied Surface Science 730 (2026) 166294. doi:10.1016/j.apsusc.2026.166294  — anchor methodology (slab protocol, site densities, ΔEr/Ea, screening).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Parsons &amp; Clark. Area-selective deposition: fundamentals, applications, and future outlook. Chem. Mater. 2020. doi:10.1021/acs.chemmater.0c00722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Mameli &amp; Teplyakov. Selection criteria for small-molecule inhibitors in area-selective ALD. Acc. Chem. Res. 2023. doi:10.1021/acs.accounts.3c00221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Soethoudt et al. Selective surface reactions of dimethylamino-trimethylsilane for area-selective deposition. J. Phys. Chem. C 2020. doi:10.1021/acs.jpcc.9b11270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Merkx et al. Relation between reactive surface sites and precursor choice for AS-ALD using small-molecule inhibitors. J. Phys. Chem. C 2022. doi:10.1021/acs.jpcc.1c10816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Tezsevin et al. Computational investigation of precursor blocking with an aniline SMI. Langmuir 2023. doi:10.1021/acs.langmuir.2c03214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Karasulu, Roozeboom &amp; Mameli. High-throughput area-selective spatial ALD of SiO₂ with interleaved small-molecule inhibitors. Adv. Mater. 2023. doi:10.1002/adma.202301204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Roh et al. Surface reactions in ALD of silicon oxide using BDEAS and ozone. Appl. Surf. Sci. 2022. doi:10.1016/j.apsusc.2021.151231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7B0A8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Methods &amp; agentic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070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B6070"/>
                </a:solidFill>
                <a:latin typeface="Calibri"/>
              </a:rPr>
              <a:t>AS-ALD Co-Scientist  ·  In-Silico AI Co-Scientist for Area-Selective 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070"/>
                </a:solidFill>
                <a:latin typeface="Calibri"/>
              </a:rPr>
              <a:t>Continued.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Zhuravlev. The surface chemistry of amorphous silica. Colloids Surf. A 2000. doi:10.1016/s0927-7757(00)00556-2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Ewing et al. Accurate amorphous silica surface models from first-principles thermodynamics of surface dehydroxylation. Langmuir 2014. doi:10.1021/la500422p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MAD-SURF: fine-tuning MACE-MPA-0 for molecular adsorption on surfaces. arXiv:2601.18852  — Tier-1 engine basis.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Fine-tuning foundation MLIPs with frozen transfer learning. arXiv:2502.15582  — foundation MLIPs underestimate reaction barriers (the lower-bound rule).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Werbrouck et al. LLM Agents for Knowledge Discovery in Atomic Layer Processing. arXiv:2509.26201  — agent/swarm exploration and persistence.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Ghafarollahi &amp; Buehler. SparksMatter: ideation → planning → experimentation → reporting. arXiv:2508.02956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Gottweis et al. Towards an AI Co-Scientist. arXiv:2502.18864  — co-scientist framing.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Lu et al. The AI Scientist. arXiv:2408.06292 (Nature, 2026)  — autonomous LaTeX authoring + figure QA + automated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406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PaperOrchestra: multi-agent LaTeX manuscript assembly. arXiv:2604.05018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9788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17B0A8"/>
                </a:solidFill>
              </a:rPr>
              <a:t>▪  </a:t>
            </a:r>
            <a:r>
              <a:rPr sz="1150">
                <a:solidFill>
                  <a:srgbClr val="222633"/>
                </a:solidFill>
                <a:latin typeface="Calibri"/>
              </a:rPr>
              <a:t>Seal et al. Supervisor / Swarm / ReAct / Reflection agentic architecture. arXiv:2510.27130  — the Layer-3 loop pattern.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73152"/>
          </a:xfrm>
          <a:prstGeom prst="rect">
            <a:avLst/>
          </a:prstGeom>
          <a:solidFill>
            <a:srgbClr val="17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AS-ALD Co-Scientist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D6DCF5"/>
                </a:solidFill>
                <a:latin typeface="Calibri"/>
              </a:rPr>
              <a:t>Literature → hypothesis → human commitment → batch in-silico screening → recommendation → reproducible manuscript.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7B0A8"/>
                </a:solidFill>
                <a:latin typeface="Calibri"/>
              </a:rPr>
              <a:t>2026 Innovation Cup for AI Agents  ·  Challenge 4  ·  In-silico AI co-scientist for selective atomic layer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