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2f59aefcb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g3f2f59aefcb_0_1:notes"/>
          <p:cNvSpPr/>
          <p:nvPr>
            <p:ph idx="2" type="sldImg"/>
          </p:nvPr>
        </p:nvSpPr>
        <p:spPr>
          <a:xfrm>
            <a:off x="1143286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8" name="Google Shape;688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5" name="Google Shape;805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7" name="Google Shape;827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415600" y="992767"/>
            <a:ext cx="113604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15589" y="3778833"/>
            <a:ext cx="113604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415589" y="2867800"/>
            <a:ext cx="113604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415589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6443028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15589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15589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653649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5838" y="-167"/>
            <a:ext cx="60957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353991" y="1644233"/>
            <a:ext cx="53934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353991" y="3737433"/>
            <a:ext cx="53934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6585824" y="965433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15589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415589" y="1474833"/>
            <a:ext cx="113604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415589" y="4202967"/>
            <a:ext cx="113604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4"/>
          <p:cNvSpPr/>
          <p:nvPr/>
        </p:nvSpPr>
        <p:spPr>
          <a:xfrm>
            <a:off x="0" y="3675887"/>
            <a:ext cx="12191695" cy="73152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8778240" y="914400"/>
            <a:ext cx="82296" cy="502920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4"/>
          <p:cNvSpPr/>
          <p:nvPr/>
        </p:nvSpPr>
        <p:spPr>
          <a:xfrm>
            <a:off x="8915400" y="914400"/>
            <a:ext cx="82296" cy="502920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4"/>
          <p:cNvSpPr/>
          <p:nvPr/>
        </p:nvSpPr>
        <p:spPr>
          <a:xfrm>
            <a:off x="9052560" y="914400"/>
            <a:ext cx="82296" cy="5029200"/>
          </a:xfrm>
          <a:prstGeom prst="rect">
            <a:avLst/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640080" y="109728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2026 INNOVATION CUP FOR AI AGENTS  ·  CHALLENGE 4</a:t>
            </a:r>
            <a:endParaRPr/>
          </a:p>
        </p:txBody>
      </p:sp>
      <p:sp>
        <p:nvSpPr>
          <p:cNvPr id="66" name="Google Shape;66;p14"/>
          <p:cNvSpPr txBox="1"/>
          <p:nvPr/>
        </p:nvSpPr>
        <p:spPr>
          <a:xfrm>
            <a:off x="640076" y="1783075"/>
            <a:ext cx="8083200" cy="15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FidenzLabs </a:t>
            </a:r>
            <a:r>
              <a:rPr b="1" i="0" lang="en-US" sz="4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Co-Scientist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autonomous in-silico AI co-scientist for</a:t>
            </a:r>
            <a:r>
              <a:rPr lang="en-US">
                <a:solidFill>
                  <a:schemeClr val="dk1"/>
                </a:solidFill>
              </a:rPr>
              <a:t> </a:t>
            </a:r>
            <a:r>
              <a:rPr b="1" i="0" lang="en-US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area-selective atomic layer deposition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56426" y="5777400"/>
            <a:ext cx="1730727" cy="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4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>
            <a:off x="0" y="0"/>
            <a:ext cx="12191700" cy="772800"/>
          </a:xfrm>
          <a:prstGeom prst="rect">
            <a:avLst/>
          </a:prstGeom>
          <a:solidFill>
            <a:srgbClr val="1C3052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Who are we?</a:t>
            </a:r>
            <a:endParaRPr/>
          </a:p>
        </p:txBody>
      </p:sp>
      <p:sp>
        <p:nvSpPr>
          <p:cNvPr id="74" name="Google Shape;74;p15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descr="A person with glasses smiling&#10;&#10;AI-generated content may be incorrect." id="75" name="Google Shape;7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3482" y="1715365"/>
            <a:ext cx="2877052" cy="249202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 txBox="1"/>
          <p:nvPr/>
        </p:nvSpPr>
        <p:spPr>
          <a:xfrm>
            <a:off x="1035905" y="4503862"/>
            <a:ext cx="2872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Vinayak 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erson smiling at the camera&#10;&#10;AI-generated content may be incorrect." id="77" name="Google Shape;7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3090" y="1715374"/>
            <a:ext cx="2571419" cy="251684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5"/>
          <p:cNvSpPr txBox="1"/>
          <p:nvPr/>
        </p:nvSpPr>
        <p:spPr>
          <a:xfrm>
            <a:off x="5472400" y="4503853"/>
            <a:ext cx="16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Pavan Kumar 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9" name="Google Shape;79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38651" y="5777400"/>
            <a:ext cx="1730727" cy="94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707075" y="1715375"/>
            <a:ext cx="2571400" cy="2516849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5"/>
          <p:cNvSpPr txBox="1"/>
          <p:nvPr/>
        </p:nvSpPr>
        <p:spPr>
          <a:xfrm>
            <a:off x="8924975" y="4503850"/>
            <a:ext cx="3266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Fidenz AI Co Scientist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OVERVIEW</a:t>
            </a: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this deck covers</a:t>
            </a:r>
            <a:endParaRPr/>
          </a:p>
        </p:txBody>
      </p:sp>
      <p:sp>
        <p:nvSpPr>
          <p:cNvPr id="90" name="Google Shape;90;p16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502920" y="1417320"/>
            <a:ext cx="3611880" cy="141732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502920" y="1417320"/>
            <a:ext cx="82296" cy="1417320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731520" y="1527048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731520" y="196596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/>
          </a:p>
        </p:txBody>
      </p:sp>
      <p:sp>
        <p:nvSpPr>
          <p:cNvPr id="96" name="Google Shape;96;p16"/>
          <p:cNvSpPr txBox="1"/>
          <p:nvPr/>
        </p:nvSpPr>
        <p:spPr>
          <a:xfrm>
            <a:off x="731520" y="2258568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Challenge 4 goal, AS-ALD mechanism, and why 3D-NAND needs it</a:t>
            </a:r>
            <a:endParaRPr/>
          </a:p>
        </p:txBody>
      </p:sp>
      <p:sp>
        <p:nvSpPr>
          <p:cNvPr id="97" name="Google Shape;97;p16"/>
          <p:cNvSpPr/>
          <p:nvPr/>
        </p:nvSpPr>
        <p:spPr>
          <a:xfrm>
            <a:off x="4370832" y="1417320"/>
            <a:ext cx="3611880" cy="141732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4370832" y="1417320"/>
            <a:ext cx="82296" cy="141732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6"/>
          <p:cNvSpPr txBox="1"/>
          <p:nvPr/>
        </p:nvSpPr>
        <p:spPr>
          <a:xfrm>
            <a:off x="4599432" y="1527048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00" name="Google Shape;100;p16"/>
          <p:cNvSpPr txBox="1"/>
          <p:nvPr/>
        </p:nvSpPr>
        <p:spPr>
          <a:xfrm>
            <a:off x="4599432" y="196596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approach</a:t>
            </a:r>
            <a:endParaRPr/>
          </a:p>
        </p:txBody>
      </p:sp>
      <p:sp>
        <p:nvSpPr>
          <p:cNvPr id="101" name="Google Shape;101;p16"/>
          <p:cNvSpPr txBox="1"/>
          <p:nvPr/>
        </p:nvSpPr>
        <p:spPr>
          <a:xfrm>
            <a:off x="4599432" y="2258568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A four-layer agentic funnel and the two graded deliverables</a:t>
            </a:r>
            <a:endParaRPr/>
          </a:p>
        </p:txBody>
      </p:sp>
      <p:sp>
        <p:nvSpPr>
          <p:cNvPr id="102" name="Google Shape;102;p16"/>
          <p:cNvSpPr/>
          <p:nvPr/>
        </p:nvSpPr>
        <p:spPr>
          <a:xfrm>
            <a:off x="8238744" y="1417320"/>
            <a:ext cx="3611880" cy="141732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8238744" y="1417320"/>
            <a:ext cx="82296" cy="141732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8467344" y="1527048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05" name="Google Shape;105;p16"/>
          <p:cNvSpPr txBox="1"/>
          <p:nvPr/>
        </p:nvSpPr>
        <p:spPr>
          <a:xfrm>
            <a:off x="8467344" y="196596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science</a:t>
            </a: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8467344" y="2258568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Amorphous surface builder, site-matched selection, testing protocol</a:t>
            </a:r>
            <a:endParaRPr/>
          </a:p>
        </p:txBody>
      </p:sp>
      <p:sp>
        <p:nvSpPr>
          <p:cNvPr id="107" name="Google Shape;107;p16"/>
          <p:cNvSpPr/>
          <p:nvPr/>
        </p:nvSpPr>
        <p:spPr>
          <a:xfrm>
            <a:off x="502920" y="3090672"/>
            <a:ext cx="3611880" cy="141732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502920" y="3090672"/>
            <a:ext cx="82296" cy="1417320"/>
          </a:xfrm>
          <a:prstGeom prst="rect">
            <a:avLst/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6"/>
          <p:cNvSpPr txBox="1"/>
          <p:nvPr/>
        </p:nvSpPr>
        <p:spPr>
          <a:xfrm>
            <a:off x="731520" y="320040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A4CC8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10" name="Google Shape;110;p16"/>
          <p:cNvSpPr txBox="1"/>
          <p:nvPr/>
        </p:nvSpPr>
        <p:spPr>
          <a:xfrm>
            <a:off x="731520" y="363931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screening funnel</a:t>
            </a:r>
            <a:endParaRPr/>
          </a:p>
        </p:txBody>
      </p:sp>
      <p:sp>
        <p:nvSpPr>
          <p:cNvPr id="111" name="Google Shape;111;p16"/>
          <p:cNvSpPr txBox="1"/>
          <p:nvPr/>
        </p:nvSpPr>
        <p:spPr>
          <a:xfrm>
            <a:off x="731520" y="3931920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Batch candidate screening → recommendation → paper</a:t>
            </a:r>
            <a:endParaRPr/>
          </a:p>
        </p:txBody>
      </p:sp>
      <p:sp>
        <p:nvSpPr>
          <p:cNvPr id="112" name="Google Shape;112;p16"/>
          <p:cNvSpPr/>
          <p:nvPr/>
        </p:nvSpPr>
        <p:spPr>
          <a:xfrm>
            <a:off x="4370832" y="3090672"/>
            <a:ext cx="3611880" cy="141732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4370832" y="3090672"/>
            <a:ext cx="82296" cy="1417320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599432" y="320040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4599432" y="363931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Results &amp; rigor</a:t>
            </a:r>
            <a:endParaRPr/>
          </a:p>
        </p:txBody>
      </p:sp>
      <p:sp>
        <p:nvSpPr>
          <p:cNvPr id="116" name="Google Shape;116;p16"/>
          <p:cNvSpPr txBox="1"/>
          <p:nvPr/>
        </p:nvSpPr>
        <p:spPr>
          <a:xfrm>
            <a:off x="4599432" y="3931920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Example campaign, reproducibility, and requirement mapping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8238744" y="3090672"/>
            <a:ext cx="3611880" cy="141732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8238744" y="3090672"/>
            <a:ext cx="82296" cy="141732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8467344" y="320040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8467344" y="363931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8467344" y="3931920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Literature and methods behind the system</a:t>
            </a:r>
            <a:endParaRPr/>
          </a:p>
        </p:txBody>
      </p:sp>
      <p:pic>
        <p:nvPicPr>
          <p:cNvPr id="122" name="Google Shape;12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7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/>
          </a:p>
        </p:txBody>
      </p:sp>
      <p:sp>
        <p:nvSpPr>
          <p:cNvPr id="131" name="Google Shape;131;p17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Challenge 4 — the goal</a:t>
            </a:r>
            <a:endParaRPr/>
          </a:p>
        </p:txBody>
      </p:sp>
      <p:sp>
        <p:nvSpPr>
          <p:cNvPr id="132" name="Google Shape;132;p17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33" name="Google Shape;133;p17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7"/>
          <p:cNvSpPr/>
          <p:nvPr/>
        </p:nvSpPr>
        <p:spPr>
          <a:xfrm>
            <a:off x="502920" y="1417320"/>
            <a:ext cx="11201400" cy="1234440"/>
          </a:xfrm>
          <a:prstGeom prst="roundRect">
            <a:avLst>
              <a:gd fmla="val 16667" name="adj"/>
            </a:avLst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822960" y="1554480"/>
            <a:ext cx="106070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“Passivate SiN (nitride) to deposit SiOₓ on SiOₓ (oxide) with 90% selectivity at 10 nm of oxide thickness.”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502920" y="28803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in-silico AI co-scientist shall include:</a:t>
            </a: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502920" y="3337560"/>
            <a:ext cx="5532120" cy="1874519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502920" y="3337560"/>
            <a:ext cx="82296" cy="1874519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777240" y="3493008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1  Amorphous surface builder</a:t>
            </a:r>
            <a:endParaRPr/>
          </a:p>
        </p:txBody>
      </p:sp>
      <p:sp>
        <p:nvSpPr>
          <p:cNvPr id="140" name="Google Shape;140;p17"/>
          <p:cNvSpPr txBox="1"/>
          <p:nvPr/>
        </p:nvSpPr>
        <p:spPr>
          <a:xfrm>
            <a:off x="777240" y="3977639"/>
            <a:ext cx="50292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Better reflects real experimental surfaces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SiOₓ models over-count reactive sites vs experiment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SiNₓ –NH₂/–NH sites have irregular spacing</a:t>
            </a:r>
            <a:endParaRPr/>
          </a:p>
        </p:txBody>
      </p:sp>
      <p:sp>
        <p:nvSpPr>
          <p:cNvPr id="141" name="Google Shape;141;p17"/>
          <p:cNvSpPr/>
          <p:nvPr/>
        </p:nvSpPr>
        <p:spPr>
          <a:xfrm>
            <a:off x="6199632" y="3337560"/>
            <a:ext cx="5532120" cy="1874519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6199632" y="3337560"/>
            <a:ext cx="82296" cy="1874519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6473952" y="3493008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2  Agentic selection logic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6473952" y="3977639"/>
            <a:ext cx="50292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Chooses inhibitor / precursor candidates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Grounded in literature; steerable via a criteria file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Surfaces = SiN, SiO₂; film = SiOₓ, SiNₓ, or high-k oxides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502920" y="5440680"/>
            <a:ext cx="11155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Selectivity metric:  </a:t>
            </a:r>
            <a:r>
              <a:rPr b="1" i="0" lang="en-US" sz="15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S = (Thk_GS − Thk_NGS) / (Thk_GS + Thk_NGS)</a:t>
            </a:r>
            <a:r>
              <a:rPr b="0" i="0" lang="en-US" sz="13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   evaluated where the growth-surface film reaches 10 nm.</a:t>
            </a:r>
            <a:endParaRPr/>
          </a:p>
        </p:txBody>
      </p:sp>
      <p:sp>
        <p:nvSpPr>
          <p:cNvPr id="146" name="Google Shape;146;p17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147" name="Google Shape;14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8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8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8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/>
          </a:p>
        </p:txBody>
      </p:sp>
      <p:sp>
        <p:nvSpPr>
          <p:cNvPr id="155" name="Google Shape;155;p18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Why area-selective ALD — and why it is hard</a:t>
            </a:r>
            <a:endParaRPr/>
          </a:p>
        </p:txBody>
      </p:sp>
      <p:sp>
        <p:nvSpPr>
          <p:cNvPr id="156" name="Google Shape;156;p18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502920" y="1371600"/>
            <a:ext cx="5532000" cy="33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AS-ALD.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Deposit film only where wanted: grow on the growth surface (GS), block the non-growth surface (NGS) with a molecular inhibitor.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mechanism.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The inhibitor </a:t>
            </a:r>
            <a:r>
              <a:rPr lang="en-US" sz="1450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chemisorbed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 on the NGS and survives the purge; the precursor nucleates on the GS. The nucleation delay on the NGS is the selectivity.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3D-NAND driver.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Selectively growing oxide-on-oxide isolates charge-trap nitride on adjacent cells, reducing cross-talk — with fewer patterning and etch steps.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core difficulty.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Computed selectivity is dominated by the assumed amorphous-surface model. Crystalline slabs get the sign of screening decisions wrong.</a:t>
            </a:r>
            <a:endParaRPr/>
          </a:p>
        </p:txBody>
      </p:sp>
      <p:sp>
        <p:nvSpPr>
          <p:cNvPr id="159" name="Google Shape;159;p18"/>
          <p:cNvSpPr/>
          <p:nvPr/>
        </p:nvSpPr>
        <p:spPr>
          <a:xfrm>
            <a:off x="6263640" y="1371600"/>
            <a:ext cx="5440680" cy="425196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8"/>
          <p:cNvSpPr txBox="1"/>
          <p:nvPr/>
        </p:nvSpPr>
        <p:spPr>
          <a:xfrm>
            <a:off x="6492240" y="150876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selectivity picture</a:t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6492240" y="2057400"/>
            <a:ext cx="2286000" cy="50292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 txBox="1"/>
          <p:nvPr/>
        </p:nvSpPr>
        <p:spPr>
          <a:xfrm>
            <a:off x="6492240" y="2121408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Growth surface (SiO₂)</a:t>
            </a:r>
            <a:endParaRPr/>
          </a:p>
        </p:txBody>
      </p:sp>
      <p:sp>
        <p:nvSpPr>
          <p:cNvPr id="163" name="Google Shape;163;p18"/>
          <p:cNvSpPr/>
          <p:nvPr/>
        </p:nvSpPr>
        <p:spPr>
          <a:xfrm>
            <a:off x="9144000" y="2057400"/>
            <a:ext cx="2286000" cy="502920"/>
          </a:xfrm>
          <a:prstGeom prst="rect">
            <a:avLst/>
          </a:prstGeom>
          <a:solidFill>
            <a:srgbClr val="8A8F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 txBox="1"/>
          <p:nvPr/>
        </p:nvSpPr>
        <p:spPr>
          <a:xfrm>
            <a:off x="9144000" y="2121408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Non-growth surface (SiN)</a:t>
            </a:r>
            <a:endParaRPr/>
          </a:p>
        </p:txBody>
      </p:sp>
      <p:sp>
        <p:nvSpPr>
          <p:cNvPr id="165" name="Google Shape;165;p18"/>
          <p:cNvSpPr/>
          <p:nvPr/>
        </p:nvSpPr>
        <p:spPr>
          <a:xfrm>
            <a:off x="9144000" y="1847088"/>
            <a:ext cx="2286000" cy="18288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 txBox="1"/>
          <p:nvPr/>
        </p:nvSpPr>
        <p:spPr>
          <a:xfrm>
            <a:off x="9144000" y="1819656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inhibitor</a:t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6492240" y="1417320"/>
            <a:ext cx="2286000" cy="603504"/>
          </a:xfrm>
          <a:prstGeom prst="rect">
            <a:avLst/>
          </a:prstGeom>
          <a:solidFill>
            <a:srgbClr val="3CA0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 txBox="1"/>
          <p:nvPr/>
        </p:nvSpPr>
        <p:spPr>
          <a:xfrm>
            <a:off x="6492240" y="15544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SiOₓ film grows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6492240" y="2788920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Film builds on the growth surface; the inhibitor delays nucleation on the non-growth surface.</a:t>
            </a: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6492240" y="3657600"/>
            <a:ext cx="4937760" cy="1783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6675120" y="3767328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Amorphous ≠ crystalline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6675120" y="4114800"/>
            <a:ext cx="46177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Amorphous surfaces expose terminal AND bridge sites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~35% fewer terminal sites than crystalline models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Getting the surface right is where the challenge is won</a:t>
            </a:r>
            <a:endParaRPr/>
          </a:p>
        </p:txBody>
      </p:sp>
      <p:sp>
        <p:nvSpPr>
          <p:cNvPr id="173" name="Google Shape;173;p18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174" name="Google Shape;17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9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APPROACH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four-layer agentic co-scientist funnel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9"/>
          <p:cNvSpPr/>
          <p:nvPr/>
        </p:nvSpPr>
        <p:spPr>
          <a:xfrm>
            <a:off x="502920" y="1417320"/>
            <a:ext cx="11201400" cy="1078992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9"/>
          <p:cNvSpPr/>
          <p:nvPr/>
        </p:nvSpPr>
        <p:spPr>
          <a:xfrm>
            <a:off x="502920" y="1417320"/>
            <a:ext cx="1691640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9"/>
          <p:cNvSpPr txBox="1"/>
          <p:nvPr/>
        </p:nvSpPr>
        <p:spPr>
          <a:xfrm>
            <a:off x="594360" y="1563624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1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594360" y="192024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Deep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2423160" y="1545336"/>
            <a:ext cx="9052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Deep Research Engine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2423160" y="1920240"/>
            <a:ext cx="9098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A literature-mining swarm builds a typed knowledge graph of surfaces, sites, inhibitors, precursors, mechanisms, and prior selectivity results.</a:t>
            </a:r>
            <a:endParaRPr/>
          </a:p>
        </p:txBody>
      </p:sp>
      <p:sp>
        <p:nvSpPr>
          <p:cNvPr id="191" name="Google Shape;191;p19"/>
          <p:cNvSpPr/>
          <p:nvPr/>
        </p:nvSpPr>
        <p:spPr>
          <a:xfrm>
            <a:off x="1234440" y="2478024"/>
            <a:ext cx="256032" cy="146304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B1D5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502920" y="2606040"/>
            <a:ext cx="11201400" cy="1078992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502920" y="2606040"/>
            <a:ext cx="1691640" cy="1078992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594360" y="2752344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2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594360" y="310896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Human-in-the-loop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2423160" y="2734056"/>
            <a:ext cx="9052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Human-in-the-loop commitment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2423160" y="3108960"/>
            <a:ext cx="9098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The researcher reviews ranked intervention hypotheses and commits one inhibitor/precursor scheme — the expensive branch point.</a:t>
            </a:r>
            <a:endParaRPr/>
          </a:p>
        </p:txBody>
      </p:sp>
      <p:sp>
        <p:nvSpPr>
          <p:cNvPr id="198" name="Google Shape;198;p19"/>
          <p:cNvSpPr/>
          <p:nvPr/>
        </p:nvSpPr>
        <p:spPr>
          <a:xfrm>
            <a:off x="1234440" y="3666744"/>
            <a:ext cx="256032" cy="146304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6BE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502920" y="3794760"/>
            <a:ext cx="11201400" cy="1078992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502920" y="3794760"/>
            <a:ext cx="1691640" cy="1078992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 txBox="1"/>
          <p:nvPr/>
        </p:nvSpPr>
        <p:spPr>
          <a:xfrm>
            <a:off x="594360" y="3941064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3</a:t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594360" y="429768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In-silico</a:t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2423160" y="3922776"/>
            <a:ext cx="9052500" cy="2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In-silico validation &amp; screening with AI Agentic candidate selection</a:t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2423160" y="4297680"/>
            <a:ext cx="9098400" cy="2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Surface builder + fidelity gate, AI agentic candidate selection, tiered reactivity engine, screening funnel, and a bounded reflection loop.</a:t>
            </a:r>
            <a:endParaRPr/>
          </a:p>
        </p:txBody>
      </p:sp>
      <p:sp>
        <p:nvSpPr>
          <p:cNvPr id="205" name="Google Shape;205;p19"/>
          <p:cNvSpPr/>
          <p:nvPr/>
        </p:nvSpPr>
        <p:spPr>
          <a:xfrm>
            <a:off x="1234440" y="4855464"/>
            <a:ext cx="256032" cy="146304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7B0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/>
          <p:nvPr/>
        </p:nvSpPr>
        <p:spPr>
          <a:xfrm>
            <a:off x="502920" y="4983480"/>
            <a:ext cx="11201400" cy="1078992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502920" y="4983480"/>
            <a:ext cx="1691640" cy="1078992"/>
          </a:xfrm>
          <a:prstGeom prst="rect">
            <a:avLst/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 txBox="1"/>
          <p:nvPr/>
        </p:nvSpPr>
        <p:spPr>
          <a:xfrm>
            <a:off x="594360" y="5129784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4</a:t>
            </a:r>
            <a:endParaRPr/>
          </a:p>
        </p:txBody>
      </p:sp>
      <p:sp>
        <p:nvSpPr>
          <p:cNvPr id="209" name="Google Shape;209;p19"/>
          <p:cNvSpPr txBox="1"/>
          <p:nvPr/>
        </p:nvSpPr>
        <p:spPr>
          <a:xfrm>
            <a:off x="594360" y="548640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Autonomous</a:t>
            </a:r>
            <a:endParaRPr/>
          </a:p>
        </p:txBody>
      </p:sp>
      <p:sp>
        <p:nvSpPr>
          <p:cNvPr id="210" name="Google Shape;210;p19"/>
          <p:cNvSpPr txBox="1"/>
          <p:nvPr/>
        </p:nvSpPr>
        <p:spPr>
          <a:xfrm>
            <a:off x="2423160" y="5111496"/>
            <a:ext cx="9052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Autonomous manuscript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2423160" y="5486400"/>
            <a:ext cx="9098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A section-writer swarm stitches a reproducible LaTeX paper — every number and figure pulled from the run artifacts, nothing invented.</a:t>
            </a:r>
            <a:endParaRPr/>
          </a:p>
        </p:txBody>
      </p:sp>
      <p:sp>
        <p:nvSpPr>
          <p:cNvPr id="212" name="Google Shape;212;p19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213" name="Google Shape;21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39351" y="587045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0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0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APPROACH</a:t>
            </a:r>
            <a:endParaRPr/>
          </a:p>
        </p:txBody>
      </p:sp>
      <p:sp>
        <p:nvSpPr>
          <p:cNvPr id="221" name="Google Shape;221;p20"/>
          <p:cNvSpPr txBox="1"/>
          <p:nvPr/>
        </p:nvSpPr>
        <p:spPr>
          <a:xfrm>
            <a:off x="502920" y="402336"/>
            <a:ext cx="11155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two graded deliverables</a:t>
            </a:r>
            <a:endParaRPr/>
          </a:p>
        </p:txBody>
      </p:sp>
      <p:sp>
        <p:nvSpPr>
          <p:cNvPr id="222" name="Google Shape;222;p20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"/>
          <p:cNvSpPr/>
          <p:nvPr/>
        </p:nvSpPr>
        <p:spPr>
          <a:xfrm>
            <a:off x="502920" y="1417320"/>
            <a:ext cx="5532120" cy="434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0"/>
          <p:cNvSpPr/>
          <p:nvPr/>
        </p:nvSpPr>
        <p:spPr>
          <a:xfrm>
            <a:off x="502920" y="1417320"/>
            <a:ext cx="5532120" cy="68580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0"/>
          <p:cNvSpPr txBox="1"/>
          <p:nvPr/>
        </p:nvSpPr>
        <p:spPr>
          <a:xfrm>
            <a:off x="731520" y="1490472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Deliverable 1 — Amorphous surface builder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31520" y="2286000"/>
            <a:ext cx="507492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3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Protocol.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Crystalline-derived slab → element-keyed passivation → geometric bridge anneal (–O– siloxane, –NH– imide).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3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Explicit target site density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per site type, not just “looks amorphous.”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3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Fidelity gate.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Rejects any slab whose per-site densities fall outside the measured acceptance bands before any compute is spent.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3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Ensembles.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N independent slabs per surface → selectivity reported as a distribution, not a fragile point estimate.</a:t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6199632" y="1417320"/>
            <a:ext cx="5532120" cy="434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0"/>
          <p:cNvSpPr/>
          <p:nvPr/>
        </p:nvSpPr>
        <p:spPr>
          <a:xfrm>
            <a:off x="6199632" y="1417320"/>
            <a:ext cx="5532120" cy="68580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0"/>
          <p:cNvSpPr txBox="1"/>
          <p:nvPr/>
        </p:nvSpPr>
        <p:spPr>
          <a:xfrm>
            <a:off x="6428232" y="1490472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Deliverable 2 — Agentic selection logic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6428232" y="2286000"/>
            <a:ext cx="507492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3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Retrieve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candidate inhibitors/precursors from the knowledge graph.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3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Site-match.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Score how completely an inhibitor passivates the sites the precursor needs on the NGS — while staying inert on the GS.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3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Rank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on differential adsorption, volatility, removability, sterics, and site match, via a human-editable criteria file.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3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Propose novel candidates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with a generative agent; they can never be “supported” on priors alone — they must clear the real-surface search.</a:t>
            </a:r>
            <a:endParaRPr/>
          </a:p>
        </p:txBody>
      </p:sp>
      <p:sp>
        <p:nvSpPr>
          <p:cNvPr id="232" name="Google Shape;232;p20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233" name="Google Shape;23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SCIENCE</a:t>
            </a:r>
            <a:endParaRPr/>
          </a:p>
        </p:txBody>
      </p:sp>
      <p:sp>
        <p:nvSpPr>
          <p:cNvPr id="241" name="Google Shape;241;p21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1 — Deep Research Engine</a:t>
            </a:r>
            <a:endParaRPr/>
          </a:p>
        </p:txBody>
      </p:sp>
      <p:sp>
        <p:nvSpPr>
          <p:cNvPr id="242" name="Google Shape;242;p21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243" name="Google Shape;243;p21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1"/>
          <p:cNvSpPr txBox="1"/>
          <p:nvPr/>
        </p:nvSpPr>
        <p:spPr>
          <a:xfrm>
            <a:off x="502920" y="1417320"/>
            <a:ext cx="56235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Swarm mining.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Parallel agents mine open scholarly sources by DOI and normalize everything to a single citation schema.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Typed knowledge graph.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Site-resolved nodes: Surface (material, phase, site type, density), Inhibitor, Precursor, Mechanism (ΔEr, Ea, byproduct), </a:t>
            </a:r>
            <a:r>
              <a:rPr lang="en-US" sz="1450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Selectivity Result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Seeded anchors.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 curated set of real-DOI anchor citations guarantees no run is left without domain-grounded literature; mined papers merge on top.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One graph, three consumers.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It feeds hypothesis generation, the selection agent's candidate library and priors, and the manuscript bibliography.</a:t>
            </a:r>
            <a:endParaRPr/>
          </a:p>
        </p:txBody>
      </p:sp>
      <p:sp>
        <p:nvSpPr>
          <p:cNvPr id="245" name="Google Shape;245;p21"/>
          <p:cNvSpPr/>
          <p:nvPr/>
        </p:nvSpPr>
        <p:spPr>
          <a:xfrm>
            <a:off x="6355080" y="1417320"/>
            <a:ext cx="5349240" cy="420624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 txBox="1"/>
          <p:nvPr/>
        </p:nvSpPr>
        <p:spPr>
          <a:xfrm>
            <a:off x="6583680" y="1554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Knowledge-graph node types</a:t>
            </a:r>
            <a:endParaRPr/>
          </a:p>
        </p:txBody>
      </p:sp>
      <p:sp>
        <p:nvSpPr>
          <p:cNvPr id="247" name="Google Shape;247;p21"/>
          <p:cNvSpPr/>
          <p:nvPr/>
        </p:nvSpPr>
        <p:spPr>
          <a:xfrm>
            <a:off x="6583680" y="2011680"/>
            <a:ext cx="2423160" cy="5669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6583680" y="2011680"/>
            <a:ext cx="64008" cy="566928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 txBox="1"/>
          <p:nvPr/>
        </p:nvSpPr>
        <p:spPr>
          <a:xfrm>
            <a:off x="6766560" y="2011680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Surface</a:t>
            </a:r>
            <a:endParaRPr/>
          </a:p>
        </p:txBody>
      </p:sp>
      <p:sp>
        <p:nvSpPr>
          <p:cNvPr id="250" name="Google Shape;250;p21"/>
          <p:cNvSpPr/>
          <p:nvPr/>
        </p:nvSpPr>
        <p:spPr>
          <a:xfrm>
            <a:off x="9235440" y="2011680"/>
            <a:ext cx="2423160" cy="5669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9235440" y="2011680"/>
            <a:ext cx="64008" cy="56692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 txBox="1"/>
          <p:nvPr/>
        </p:nvSpPr>
        <p:spPr>
          <a:xfrm>
            <a:off x="9418320" y="2011680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Site type</a:t>
            </a:r>
            <a:endParaRPr/>
          </a:p>
        </p:txBody>
      </p:sp>
      <p:sp>
        <p:nvSpPr>
          <p:cNvPr id="253" name="Google Shape;253;p21"/>
          <p:cNvSpPr/>
          <p:nvPr/>
        </p:nvSpPr>
        <p:spPr>
          <a:xfrm>
            <a:off x="6583680" y="2779776"/>
            <a:ext cx="2423160" cy="5669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6583680" y="2779776"/>
            <a:ext cx="64008" cy="566928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1"/>
          <p:cNvSpPr txBox="1"/>
          <p:nvPr/>
        </p:nvSpPr>
        <p:spPr>
          <a:xfrm>
            <a:off x="6766560" y="2779776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Inhibitor</a:t>
            </a:r>
            <a:endParaRPr/>
          </a:p>
        </p:txBody>
      </p:sp>
      <p:sp>
        <p:nvSpPr>
          <p:cNvPr id="256" name="Google Shape;256;p21"/>
          <p:cNvSpPr/>
          <p:nvPr/>
        </p:nvSpPr>
        <p:spPr>
          <a:xfrm>
            <a:off x="9235440" y="2779776"/>
            <a:ext cx="2423160" cy="5669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9235440" y="2779776"/>
            <a:ext cx="64008" cy="566928"/>
          </a:xfrm>
          <a:prstGeom prst="rect">
            <a:avLst/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 txBox="1"/>
          <p:nvPr/>
        </p:nvSpPr>
        <p:spPr>
          <a:xfrm>
            <a:off x="9418320" y="2779776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Precursor</a:t>
            </a:r>
            <a:endParaRPr/>
          </a:p>
        </p:txBody>
      </p:sp>
      <p:sp>
        <p:nvSpPr>
          <p:cNvPr id="259" name="Google Shape;259;p21"/>
          <p:cNvSpPr/>
          <p:nvPr/>
        </p:nvSpPr>
        <p:spPr>
          <a:xfrm>
            <a:off x="6583680" y="3547872"/>
            <a:ext cx="2423160" cy="5669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1"/>
          <p:cNvSpPr/>
          <p:nvPr/>
        </p:nvSpPr>
        <p:spPr>
          <a:xfrm>
            <a:off x="6583680" y="3547872"/>
            <a:ext cx="64008" cy="566928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1"/>
          <p:cNvSpPr txBox="1"/>
          <p:nvPr/>
        </p:nvSpPr>
        <p:spPr>
          <a:xfrm>
            <a:off x="6766560" y="354787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Mechanism</a:t>
            </a:r>
            <a:endParaRPr/>
          </a:p>
        </p:txBody>
      </p:sp>
      <p:sp>
        <p:nvSpPr>
          <p:cNvPr id="262" name="Google Shape;262;p21"/>
          <p:cNvSpPr/>
          <p:nvPr/>
        </p:nvSpPr>
        <p:spPr>
          <a:xfrm>
            <a:off x="9235440" y="3547872"/>
            <a:ext cx="2423160" cy="5669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1"/>
          <p:cNvSpPr/>
          <p:nvPr/>
        </p:nvSpPr>
        <p:spPr>
          <a:xfrm>
            <a:off x="9235440" y="3547872"/>
            <a:ext cx="64008" cy="56692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1"/>
          <p:cNvSpPr txBox="1"/>
          <p:nvPr/>
        </p:nvSpPr>
        <p:spPr>
          <a:xfrm>
            <a:off x="9418320" y="354787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Byproduct</a:t>
            </a:r>
            <a:endParaRPr/>
          </a:p>
        </p:txBody>
      </p:sp>
      <p:sp>
        <p:nvSpPr>
          <p:cNvPr id="265" name="Google Shape;265;p21"/>
          <p:cNvSpPr/>
          <p:nvPr/>
        </p:nvSpPr>
        <p:spPr>
          <a:xfrm>
            <a:off x="6583680" y="4315968"/>
            <a:ext cx="2423160" cy="5669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1"/>
          <p:cNvSpPr/>
          <p:nvPr/>
        </p:nvSpPr>
        <p:spPr>
          <a:xfrm>
            <a:off x="6583680" y="4315968"/>
            <a:ext cx="64008" cy="566928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1"/>
          <p:cNvSpPr txBox="1"/>
          <p:nvPr/>
        </p:nvSpPr>
        <p:spPr>
          <a:xfrm>
            <a:off x="6697935" y="4408081"/>
            <a:ext cx="2148900" cy="2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Selectivity Result</a:t>
            </a:r>
            <a:endParaRPr/>
          </a:p>
        </p:txBody>
      </p:sp>
      <p:sp>
        <p:nvSpPr>
          <p:cNvPr id="268" name="Google Shape;268;p21"/>
          <p:cNvSpPr/>
          <p:nvPr/>
        </p:nvSpPr>
        <p:spPr>
          <a:xfrm>
            <a:off x="9235440" y="4315968"/>
            <a:ext cx="2423160" cy="56692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1"/>
          <p:cNvSpPr/>
          <p:nvPr/>
        </p:nvSpPr>
        <p:spPr>
          <a:xfrm>
            <a:off x="9235440" y="4315968"/>
            <a:ext cx="64008" cy="566928"/>
          </a:xfrm>
          <a:prstGeom prst="rect">
            <a:avLst/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1"/>
          <p:cNvSpPr txBox="1"/>
          <p:nvPr/>
        </p:nvSpPr>
        <p:spPr>
          <a:xfrm>
            <a:off x="9418320" y="4315968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Citation</a:t>
            </a:r>
            <a:endParaRPr/>
          </a:p>
        </p:txBody>
      </p:sp>
      <p:sp>
        <p:nvSpPr>
          <p:cNvPr id="271" name="Google Shape;271;p21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272" name="Google Shape;27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SCIENCE</a:t>
            </a:r>
            <a:endParaRPr/>
          </a:p>
        </p:txBody>
      </p:sp>
      <p:sp>
        <p:nvSpPr>
          <p:cNvPr id="280" name="Google Shape;280;p22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2 — Human-in-the-loop commitment</a:t>
            </a:r>
            <a:endParaRPr/>
          </a:p>
        </p:txBody>
      </p:sp>
      <p:sp>
        <p:nvSpPr>
          <p:cNvPr id="281" name="Google Shape;281;p22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282" name="Google Shape;282;p22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2"/>
          <p:cNvSpPr txBox="1"/>
          <p:nvPr/>
        </p:nvSpPr>
        <p:spPr>
          <a:xfrm>
            <a:off x="502920" y="1417320"/>
            <a:ext cx="562356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right place for a human.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“Which inhibitor/precursor scheme do we commit compute to?” is the expensive branch point — a human gate before the validation spend is the correct antidote to trial-and-error.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Review &amp; commit.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The researcher sees the top ranked hypotheses and selects, edits, merges, or redirects.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Structured output.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The decision is saved as a structured specification (growth / non-growth surface, inhibitor, precursor, target film, thickness, selectivity threshold, provenance).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Flows downstream. </a:t>
            </a:r>
            <a:r>
              <a:rPr b="0" i="0" lang="en-US" sz="14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That one record seeds the surface builder, the selection agent, the scoring model, and the manuscript.</a:t>
            </a:r>
            <a:endParaRPr/>
          </a:p>
        </p:txBody>
      </p:sp>
      <p:sp>
        <p:nvSpPr>
          <p:cNvPr id="284" name="Google Shape;284;p22"/>
          <p:cNvSpPr/>
          <p:nvPr/>
        </p:nvSpPr>
        <p:spPr>
          <a:xfrm>
            <a:off x="6355080" y="1417320"/>
            <a:ext cx="5349240" cy="402336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6583680" y="157276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Committed specification</a:t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6583680" y="2057400"/>
            <a:ext cx="4892040" cy="4023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2"/>
          <p:cNvSpPr txBox="1"/>
          <p:nvPr/>
        </p:nvSpPr>
        <p:spPr>
          <a:xfrm>
            <a:off x="6748272" y="2057400"/>
            <a:ext cx="2743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Growth surface</a:t>
            </a:r>
            <a:endParaRPr/>
          </a:p>
        </p:txBody>
      </p:sp>
      <p:sp>
        <p:nvSpPr>
          <p:cNvPr id="288" name="Google Shape;288;p22"/>
          <p:cNvSpPr txBox="1"/>
          <p:nvPr/>
        </p:nvSpPr>
        <p:spPr>
          <a:xfrm>
            <a:off x="9326880" y="2057400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a-SiO₂</a:t>
            </a:r>
            <a:endParaRPr/>
          </a:p>
        </p:txBody>
      </p:sp>
      <p:sp>
        <p:nvSpPr>
          <p:cNvPr id="289" name="Google Shape;289;p22"/>
          <p:cNvSpPr/>
          <p:nvPr/>
        </p:nvSpPr>
        <p:spPr>
          <a:xfrm>
            <a:off x="6583680" y="2532888"/>
            <a:ext cx="4892040" cy="402336"/>
          </a:xfrm>
          <a:prstGeom prst="roundRect">
            <a:avLst>
              <a:gd fmla="val 16667" name="adj"/>
            </a:avLst>
          </a:prstGeom>
          <a:solidFill>
            <a:srgbClr val="E7EA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2"/>
          <p:cNvSpPr txBox="1"/>
          <p:nvPr/>
        </p:nvSpPr>
        <p:spPr>
          <a:xfrm>
            <a:off x="6748272" y="2532888"/>
            <a:ext cx="2743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Non-growth surface</a:t>
            </a:r>
            <a:endParaRPr/>
          </a:p>
        </p:txBody>
      </p:sp>
      <p:sp>
        <p:nvSpPr>
          <p:cNvPr id="291" name="Google Shape;291;p22"/>
          <p:cNvSpPr txBox="1"/>
          <p:nvPr/>
        </p:nvSpPr>
        <p:spPr>
          <a:xfrm>
            <a:off x="9326880" y="2532888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a-SiN</a:t>
            </a:r>
            <a:endParaRPr/>
          </a:p>
        </p:txBody>
      </p:sp>
      <p:sp>
        <p:nvSpPr>
          <p:cNvPr id="292" name="Google Shape;292;p22"/>
          <p:cNvSpPr/>
          <p:nvPr/>
        </p:nvSpPr>
        <p:spPr>
          <a:xfrm>
            <a:off x="6583680" y="3008376"/>
            <a:ext cx="4892040" cy="4023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2"/>
          <p:cNvSpPr txBox="1"/>
          <p:nvPr/>
        </p:nvSpPr>
        <p:spPr>
          <a:xfrm>
            <a:off x="6748272" y="3008376"/>
            <a:ext cx="2743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Inhibitor</a:t>
            </a:r>
            <a:endParaRPr/>
          </a:p>
        </p:txBody>
      </p:sp>
      <p:sp>
        <p:nvSpPr>
          <p:cNvPr id="294" name="Google Shape;294;p22"/>
          <p:cNvSpPr txBox="1"/>
          <p:nvPr/>
        </p:nvSpPr>
        <p:spPr>
          <a:xfrm>
            <a:off x="9326880" y="3008376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committed candidate</a:t>
            </a:r>
            <a:endParaRPr/>
          </a:p>
        </p:txBody>
      </p:sp>
      <p:sp>
        <p:nvSpPr>
          <p:cNvPr id="295" name="Google Shape;295;p22"/>
          <p:cNvSpPr/>
          <p:nvPr/>
        </p:nvSpPr>
        <p:spPr>
          <a:xfrm>
            <a:off x="6583680" y="3483864"/>
            <a:ext cx="4892040" cy="402336"/>
          </a:xfrm>
          <a:prstGeom prst="roundRect">
            <a:avLst>
              <a:gd fmla="val 16667" name="adj"/>
            </a:avLst>
          </a:prstGeom>
          <a:solidFill>
            <a:srgbClr val="E7EA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2"/>
          <p:cNvSpPr txBox="1"/>
          <p:nvPr/>
        </p:nvSpPr>
        <p:spPr>
          <a:xfrm>
            <a:off x="6748272" y="3483864"/>
            <a:ext cx="2743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Precursor</a:t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9326880" y="3483864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e.g. BDEAS</a:t>
            </a:r>
            <a:endParaRPr/>
          </a:p>
        </p:txBody>
      </p:sp>
      <p:sp>
        <p:nvSpPr>
          <p:cNvPr id="298" name="Google Shape;298;p22"/>
          <p:cNvSpPr/>
          <p:nvPr/>
        </p:nvSpPr>
        <p:spPr>
          <a:xfrm>
            <a:off x="6583680" y="3959352"/>
            <a:ext cx="4892040" cy="4023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2"/>
          <p:cNvSpPr txBox="1"/>
          <p:nvPr/>
        </p:nvSpPr>
        <p:spPr>
          <a:xfrm>
            <a:off x="6748272" y="3959352"/>
            <a:ext cx="2743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Target film</a:t>
            </a:r>
            <a:endParaRPr/>
          </a:p>
        </p:txBody>
      </p:sp>
      <p:sp>
        <p:nvSpPr>
          <p:cNvPr id="300" name="Google Shape;300;p22"/>
          <p:cNvSpPr txBox="1"/>
          <p:nvPr/>
        </p:nvSpPr>
        <p:spPr>
          <a:xfrm>
            <a:off x="9326880" y="39593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SiOₓ</a:t>
            </a:r>
            <a:endParaRPr/>
          </a:p>
        </p:txBody>
      </p:sp>
      <p:sp>
        <p:nvSpPr>
          <p:cNvPr id="301" name="Google Shape;301;p22"/>
          <p:cNvSpPr/>
          <p:nvPr/>
        </p:nvSpPr>
        <p:spPr>
          <a:xfrm>
            <a:off x="6583680" y="4434840"/>
            <a:ext cx="4892040" cy="402336"/>
          </a:xfrm>
          <a:prstGeom prst="roundRect">
            <a:avLst>
              <a:gd fmla="val 16667" name="adj"/>
            </a:avLst>
          </a:prstGeom>
          <a:solidFill>
            <a:srgbClr val="E7EA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2"/>
          <p:cNvSpPr txBox="1"/>
          <p:nvPr/>
        </p:nvSpPr>
        <p:spPr>
          <a:xfrm>
            <a:off x="6748272" y="4434840"/>
            <a:ext cx="2743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Target thickness</a:t>
            </a:r>
            <a:endParaRPr/>
          </a:p>
        </p:txBody>
      </p:sp>
      <p:sp>
        <p:nvSpPr>
          <p:cNvPr id="303" name="Google Shape;303;p22"/>
          <p:cNvSpPr txBox="1"/>
          <p:nvPr/>
        </p:nvSpPr>
        <p:spPr>
          <a:xfrm>
            <a:off x="9326880" y="4434840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10 nm</a:t>
            </a:r>
            <a:endParaRPr/>
          </a:p>
        </p:txBody>
      </p:sp>
      <p:sp>
        <p:nvSpPr>
          <p:cNvPr id="304" name="Google Shape;304;p22"/>
          <p:cNvSpPr/>
          <p:nvPr/>
        </p:nvSpPr>
        <p:spPr>
          <a:xfrm>
            <a:off x="6583680" y="4910328"/>
            <a:ext cx="4892040" cy="40233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 txBox="1"/>
          <p:nvPr/>
        </p:nvSpPr>
        <p:spPr>
          <a:xfrm>
            <a:off x="6748272" y="4910328"/>
            <a:ext cx="2743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Target selectivity</a:t>
            </a:r>
            <a:endParaRPr/>
          </a:p>
        </p:txBody>
      </p:sp>
      <p:sp>
        <p:nvSpPr>
          <p:cNvPr id="306" name="Google Shape;306;p22"/>
          <p:cNvSpPr txBox="1"/>
          <p:nvPr/>
        </p:nvSpPr>
        <p:spPr>
          <a:xfrm>
            <a:off x="9326880" y="4910328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≥ 90%</a:t>
            </a:r>
            <a:endParaRPr/>
          </a:p>
        </p:txBody>
      </p:sp>
      <p:sp>
        <p:nvSpPr>
          <p:cNvPr id="307" name="Google Shape;307;p22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308" name="Google Shape;30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3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3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SCIENCE</a:t>
            </a:r>
            <a:endParaRPr/>
          </a:p>
        </p:txBody>
      </p:sp>
      <p:sp>
        <p:nvSpPr>
          <p:cNvPr id="316" name="Google Shape;316;p23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Amorphous surface builder + fidelity gate</a:t>
            </a:r>
            <a:endParaRPr/>
          </a:p>
        </p:txBody>
      </p:sp>
      <p:sp>
        <p:nvSpPr>
          <p:cNvPr id="317" name="Google Shape;317;p23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318" name="Google Shape;318;p23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23"/>
          <p:cNvSpPr/>
          <p:nvPr/>
        </p:nvSpPr>
        <p:spPr>
          <a:xfrm>
            <a:off x="502920" y="1417320"/>
            <a:ext cx="1737360" cy="868680"/>
          </a:xfrm>
          <a:prstGeom prst="roundRect">
            <a:avLst>
              <a:gd fmla="val 16667" name="adj"/>
            </a:avLst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3"/>
          <p:cNvSpPr txBox="1"/>
          <p:nvPr/>
        </p:nvSpPr>
        <p:spPr>
          <a:xfrm>
            <a:off x="594360" y="1508760"/>
            <a:ext cx="1554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Seed bulk</a:t>
            </a:r>
            <a:endParaRPr/>
          </a:p>
        </p:txBody>
      </p:sp>
      <p:sp>
        <p:nvSpPr>
          <p:cNvPr id="321" name="Google Shape;321;p23"/>
          <p:cNvSpPr/>
          <p:nvPr/>
        </p:nvSpPr>
        <p:spPr>
          <a:xfrm>
            <a:off x="2258568" y="1746504"/>
            <a:ext cx="164592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7B0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3"/>
          <p:cNvSpPr/>
          <p:nvPr/>
        </p:nvSpPr>
        <p:spPr>
          <a:xfrm>
            <a:off x="2441448" y="1417320"/>
            <a:ext cx="1737360" cy="868680"/>
          </a:xfrm>
          <a:prstGeom prst="roundRect">
            <a:avLst>
              <a:gd fmla="val 16667" name="adj"/>
            </a:avLst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3"/>
          <p:cNvSpPr txBox="1"/>
          <p:nvPr/>
        </p:nvSpPr>
        <p:spPr>
          <a:xfrm>
            <a:off x="2532888" y="1508760"/>
            <a:ext cx="1554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Cleave + vacuum</a:t>
            </a:r>
            <a:endParaRPr/>
          </a:p>
        </p:txBody>
      </p:sp>
      <p:sp>
        <p:nvSpPr>
          <p:cNvPr id="324" name="Google Shape;324;p23"/>
          <p:cNvSpPr/>
          <p:nvPr/>
        </p:nvSpPr>
        <p:spPr>
          <a:xfrm>
            <a:off x="4197096" y="1746504"/>
            <a:ext cx="164592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7B0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3"/>
          <p:cNvSpPr/>
          <p:nvPr/>
        </p:nvSpPr>
        <p:spPr>
          <a:xfrm>
            <a:off x="4379976" y="1417320"/>
            <a:ext cx="1737360" cy="868680"/>
          </a:xfrm>
          <a:prstGeom prst="roundRect">
            <a:avLst>
              <a:gd fmla="val 16667" name="adj"/>
            </a:avLst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3"/>
          <p:cNvSpPr txBox="1"/>
          <p:nvPr/>
        </p:nvSpPr>
        <p:spPr>
          <a:xfrm>
            <a:off x="4471416" y="1508760"/>
            <a:ext cx="1554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Passivate sites</a:t>
            </a:r>
            <a:endParaRPr/>
          </a:p>
        </p:txBody>
      </p:sp>
      <p:sp>
        <p:nvSpPr>
          <p:cNvPr id="327" name="Google Shape;327;p23"/>
          <p:cNvSpPr/>
          <p:nvPr/>
        </p:nvSpPr>
        <p:spPr>
          <a:xfrm>
            <a:off x="6135624" y="1746504"/>
            <a:ext cx="164592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7B0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3"/>
          <p:cNvSpPr/>
          <p:nvPr/>
        </p:nvSpPr>
        <p:spPr>
          <a:xfrm>
            <a:off x="6318504" y="1417320"/>
            <a:ext cx="1737360" cy="868680"/>
          </a:xfrm>
          <a:prstGeom prst="roundRect">
            <a:avLst>
              <a:gd fmla="val 16667" name="adj"/>
            </a:avLst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3"/>
          <p:cNvSpPr txBox="1"/>
          <p:nvPr/>
        </p:nvSpPr>
        <p:spPr>
          <a:xfrm>
            <a:off x="6409944" y="1508760"/>
            <a:ext cx="1554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Bridge anneal</a:t>
            </a:r>
            <a:endParaRPr/>
          </a:p>
        </p:txBody>
      </p:sp>
      <p:sp>
        <p:nvSpPr>
          <p:cNvPr id="330" name="Google Shape;330;p23"/>
          <p:cNvSpPr/>
          <p:nvPr/>
        </p:nvSpPr>
        <p:spPr>
          <a:xfrm>
            <a:off x="8074152" y="1746504"/>
            <a:ext cx="164592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7B0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3"/>
          <p:cNvSpPr/>
          <p:nvPr/>
        </p:nvSpPr>
        <p:spPr>
          <a:xfrm>
            <a:off x="8257032" y="1417320"/>
            <a:ext cx="1737360" cy="868680"/>
          </a:xfrm>
          <a:prstGeom prst="roundRect">
            <a:avLst>
              <a:gd fmla="val 16667" name="adj"/>
            </a:avLst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3"/>
          <p:cNvSpPr txBox="1"/>
          <p:nvPr/>
        </p:nvSpPr>
        <p:spPr>
          <a:xfrm>
            <a:off x="8348472" y="1508760"/>
            <a:ext cx="1554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Fidelity gate</a:t>
            </a:r>
            <a:endParaRPr/>
          </a:p>
        </p:txBody>
      </p:sp>
      <p:sp>
        <p:nvSpPr>
          <p:cNvPr id="333" name="Google Shape;333;p23"/>
          <p:cNvSpPr/>
          <p:nvPr/>
        </p:nvSpPr>
        <p:spPr>
          <a:xfrm>
            <a:off x="10012680" y="1746504"/>
            <a:ext cx="164592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7B0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3"/>
          <p:cNvSpPr/>
          <p:nvPr/>
        </p:nvSpPr>
        <p:spPr>
          <a:xfrm>
            <a:off x="10195560" y="1417320"/>
            <a:ext cx="1737360" cy="868680"/>
          </a:xfrm>
          <a:prstGeom prst="roundRect">
            <a:avLst>
              <a:gd fmla="val 16667" name="adj"/>
            </a:avLst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3"/>
          <p:cNvSpPr txBox="1"/>
          <p:nvPr/>
        </p:nvSpPr>
        <p:spPr>
          <a:xfrm>
            <a:off x="10287000" y="1508760"/>
            <a:ext cx="1554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Ensemble of N</a:t>
            </a:r>
            <a:endParaRPr/>
          </a:p>
        </p:txBody>
      </p:sp>
      <p:sp>
        <p:nvSpPr>
          <p:cNvPr id="336" name="Google Shape;336;p23"/>
          <p:cNvSpPr txBox="1"/>
          <p:nvPr/>
        </p:nvSpPr>
        <p:spPr>
          <a:xfrm>
            <a:off x="502920" y="2514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gate is the load-bearing rigor element — pathological surfaces are thrown out before any expensive reactivity call. Two builder modes feed the same gate: fast procedural slabs, or an opt-in real MLIP melt-quench MD network (LLM auto-tuned).</a:t>
            </a:r>
            <a:endParaRPr/>
          </a:p>
        </p:txBody>
      </p:sp>
      <p:sp>
        <p:nvSpPr>
          <p:cNvPr id="337" name="Google Shape;337;p23"/>
          <p:cNvSpPr/>
          <p:nvPr/>
        </p:nvSpPr>
        <p:spPr>
          <a:xfrm>
            <a:off x="502920" y="3108960"/>
            <a:ext cx="1874519" cy="512064"/>
          </a:xfrm>
          <a:prstGeom prst="rect">
            <a:avLst/>
          </a:prstGeom>
          <a:solidFill>
            <a:srgbClr val="2B1D5E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3"/>
          <p:cNvSpPr txBox="1"/>
          <p:nvPr/>
        </p:nvSpPr>
        <p:spPr>
          <a:xfrm>
            <a:off x="612648" y="3108960"/>
            <a:ext cx="1691639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Surface</a:t>
            </a:r>
            <a:endParaRPr/>
          </a:p>
        </p:txBody>
      </p:sp>
      <p:sp>
        <p:nvSpPr>
          <p:cNvPr id="339" name="Google Shape;339;p23"/>
          <p:cNvSpPr/>
          <p:nvPr/>
        </p:nvSpPr>
        <p:spPr>
          <a:xfrm>
            <a:off x="2377440" y="3108960"/>
            <a:ext cx="2468880" cy="512064"/>
          </a:xfrm>
          <a:prstGeom prst="rect">
            <a:avLst/>
          </a:prstGeom>
          <a:solidFill>
            <a:srgbClr val="2B1D5E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3"/>
          <p:cNvSpPr txBox="1"/>
          <p:nvPr/>
        </p:nvSpPr>
        <p:spPr>
          <a:xfrm>
            <a:off x="2487168" y="3108960"/>
            <a:ext cx="22860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Site</a:t>
            </a:r>
            <a:endParaRPr/>
          </a:p>
        </p:txBody>
      </p:sp>
      <p:sp>
        <p:nvSpPr>
          <p:cNvPr id="341" name="Google Shape;341;p23"/>
          <p:cNvSpPr/>
          <p:nvPr/>
        </p:nvSpPr>
        <p:spPr>
          <a:xfrm>
            <a:off x="4846320" y="3108960"/>
            <a:ext cx="4023360" cy="512064"/>
          </a:xfrm>
          <a:prstGeom prst="rect">
            <a:avLst/>
          </a:prstGeom>
          <a:solidFill>
            <a:srgbClr val="2B1D5E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3"/>
          <p:cNvSpPr txBox="1"/>
          <p:nvPr/>
        </p:nvSpPr>
        <p:spPr>
          <a:xfrm>
            <a:off x="4956048" y="3108960"/>
            <a:ext cx="38404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Acceptance band (nm⁻²)</a:t>
            </a:r>
            <a:endParaRPr/>
          </a:p>
        </p:txBody>
      </p:sp>
      <p:sp>
        <p:nvSpPr>
          <p:cNvPr id="343" name="Google Shape;343;p23"/>
          <p:cNvSpPr/>
          <p:nvPr/>
        </p:nvSpPr>
        <p:spPr>
          <a:xfrm>
            <a:off x="8869680" y="3108960"/>
            <a:ext cx="2834640" cy="512064"/>
          </a:xfrm>
          <a:prstGeom prst="rect">
            <a:avLst/>
          </a:prstGeom>
          <a:solidFill>
            <a:srgbClr val="2B1D5E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3"/>
          <p:cNvSpPr txBox="1"/>
          <p:nvPr/>
        </p:nvSpPr>
        <p:spPr>
          <a:xfrm>
            <a:off x="8979408" y="3108960"/>
            <a:ext cx="26517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Crystalline ref.</a:t>
            </a:r>
            <a:endParaRPr/>
          </a:p>
        </p:txBody>
      </p:sp>
      <p:sp>
        <p:nvSpPr>
          <p:cNvPr id="345" name="Google Shape;345;p23"/>
          <p:cNvSpPr/>
          <p:nvPr/>
        </p:nvSpPr>
        <p:spPr>
          <a:xfrm>
            <a:off x="502920" y="3621024"/>
            <a:ext cx="1874519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3"/>
          <p:cNvSpPr txBox="1"/>
          <p:nvPr/>
        </p:nvSpPr>
        <p:spPr>
          <a:xfrm>
            <a:off x="612648" y="3621024"/>
            <a:ext cx="1691639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a-SiO₂</a:t>
            </a:r>
            <a:endParaRPr/>
          </a:p>
        </p:txBody>
      </p:sp>
      <p:sp>
        <p:nvSpPr>
          <p:cNvPr id="347" name="Google Shape;347;p23"/>
          <p:cNvSpPr/>
          <p:nvPr/>
        </p:nvSpPr>
        <p:spPr>
          <a:xfrm>
            <a:off x="2377440" y="3621024"/>
            <a:ext cx="246888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3"/>
          <p:cNvSpPr txBox="1"/>
          <p:nvPr/>
        </p:nvSpPr>
        <p:spPr>
          <a:xfrm>
            <a:off x="2487168" y="3621024"/>
            <a:ext cx="22860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–OH silanol</a:t>
            </a:r>
            <a:endParaRPr/>
          </a:p>
        </p:txBody>
      </p:sp>
      <p:sp>
        <p:nvSpPr>
          <p:cNvPr id="349" name="Google Shape;349;p23"/>
          <p:cNvSpPr/>
          <p:nvPr/>
        </p:nvSpPr>
        <p:spPr>
          <a:xfrm>
            <a:off x="4846320" y="3621024"/>
            <a:ext cx="402336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3"/>
          <p:cNvSpPr txBox="1"/>
          <p:nvPr/>
        </p:nvSpPr>
        <p:spPr>
          <a:xfrm>
            <a:off x="4956048" y="3621024"/>
            <a:ext cx="38404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~4.5 – 7.5</a:t>
            </a:r>
            <a:endParaRPr/>
          </a:p>
        </p:txBody>
      </p:sp>
      <p:sp>
        <p:nvSpPr>
          <p:cNvPr id="351" name="Google Shape;351;p23"/>
          <p:cNvSpPr/>
          <p:nvPr/>
        </p:nvSpPr>
        <p:spPr>
          <a:xfrm>
            <a:off x="8869680" y="3621024"/>
            <a:ext cx="283464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3"/>
          <p:cNvSpPr txBox="1"/>
          <p:nvPr/>
        </p:nvSpPr>
        <p:spPr>
          <a:xfrm>
            <a:off x="8979408" y="3621024"/>
            <a:ext cx="26517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9.57</a:t>
            </a:r>
            <a:endParaRPr/>
          </a:p>
        </p:txBody>
      </p:sp>
      <p:sp>
        <p:nvSpPr>
          <p:cNvPr id="353" name="Google Shape;353;p23"/>
          <p:cNvSpPr/>
          <p:nvPr/>
        </p:nvSpPr>
        <p:spPr>
          <a:xfrm>
            <a:off x="502920" y="4133088"/>
            <a:ext cx="1874519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3"/>
          <p:cNvSpPr txBox="1"/>
          <p:nvPr/>
        </p:nvSpPr>
        <p:spPr>
          <a:xfrm>
            <a:off x="612648" y="4133088"/>
            <a:ext cx="1691639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a-SiO₂</a:t>
            </a:r>
            <a:endParaRPr/>
          </a:p>
        </p:txBody>
      </p:sp>
      <p:sp>
        <p:nvSpPr>
          <p:cNvPr id="355" name="Google Shape;355;p23"/>
          <p:cNvSpPr/>
          <p:nvPr/>
        </p:nvSpPr>
        <p:spPr>
          <a:xfrm>
            <a:off x="2377440" y="4133088"/>
            <a:ext cx="246888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3"/>
          <p:cNvSpPr txBox="1"/>
          <p:nvPr/>
        </p:nvSpPr>
        <p:spPr>
          <a:xfrm>
            <a:off x="2487168" y="4133088"/>
            <a:ext cx="22860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–O– siloxane bridge</a:t>
            </a:r>
            <a:endParaRPr/>
          </a:p>
        </p:txBody>
      </p:sp>
      <p:sp>
        <p:nvSpPr>
          <p:cNvPr id="357" name="Google Shape;357;p23"/>
          <p:cNvSpPr/>
          <p:nvPr/>
        </p:nvSpPr>
        <p:spPr>
          <a:xfrm>
            <a:off x="4846320" y="4133088"/>
            <a:ext cx="402336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3"/>
          <p:cNvSpPr txBox="1"/>
          <p:nvPr/>
        </p:nvSpPr>
        <p:spPr>
          <a:xfrm>
            <a:off x="4956048" y="4133088"/>
            <a:ext cx="38404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~2.0 – 6.0</a:t>
            </a:r>
            <a:endParaRPr/>
          </a:p>
        </p:txBody>
      </p:sp>
      <p:sp>
        <p:nvSpPr>
          <p:cNvPr id="359" name="Google Shape;359;p23"/>
          <p:cNvSpPr/>
          <p:nvPr/>
        </p:nvSpPr>
        <p:spPr>
          <a:xfrm>
            <a:off x="8869680" y="4133088"/>
            <a:ext cx="283464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3"/>
          <p:cNvSpPr txBox="1"/>
          <p:nvPr/>
        </p:nvSpPr>
        <p:spPr>
          <a:xfrm>
            <a:off x="8979408" y="4133088"/>
            <a:ext cx="26517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/>
          </a:p>
        </p:txBody>
      </p:sp>
      <p:sp>
        <p:nvSpPr>
          <p:cNvPr id="361" name="Google Shape;361;p23"/>
          <p:cNvSpPr/>
          <p:nvPr/>
        </p:nvSpPr>
        <p:spPr>
          <a:xfrm>
            <a:off x="502920" y="4645152"/>
            <a:ext cx="1874519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3"/>
          <p:cNvSpPr txBox="1"/>
          <p:nvPr/>
        </p:nvSpPr>
        <p:spPr>
          <a:xfrm>
            <a:off x="612648" y="4645152"/>
            <a:ext cx="1691639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a-SiN</a:t>
            </a:r>
            <a:endParaRPr/>
          </a:p>
        </p:txBody>
      </p:sp>
      <p:sp>
        <p:nvSpPr>
          <p:cNvPr id="363" name="Google Shape;363;p23"/>
          <p:cNvSpPr/>
          <p:nvPr/>
        </p:nvSpPr>
        <p:spPr>
          <a:xfrm>
            <a:off x="2377440" y="4645152"/>
            <a:ext cx="246888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3"/>
          <p:cNvSpPr txBox="1"/>
          <p:nvPr/>
        </p:nvSpPr>
        <p:spPr>
          <a:xfrm>
            <a:off x="2487168" y="4645152"/>
            <a:ext cx="22860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–NH₂ amine</a:t>
            </a:r>
            <a:endParaRPr/>
          </a:p>
        </p:txBody>
      </p:sp>
      <p:sp>
        <p:nvSpPr>
          <p:cNvPr id="365" name="Google Shape;365;p23"/>
          <p:cNvSpPr/>
          <p:nvPr/>
        </p:nvSpPr>
        <p:spPr>
          <a:xfrm>
            <a:off x="4846320" y="4645152"/>
            <a:ext cx="402336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3"/>
          <p:cNvSpPr txBox="1"/>
          <p:nvPr/>
        </p:nvSpPr>
        <p:spPr>
          <a:xfrm>
            <a:off x="4956048" y="4645152"/>
            <a:ext cx="38404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~2.5 – 5.5</a:t>
            </a:r>
            <a:endParaRPr/>
          </a:p>
        </p:txBody>
      </p:sp>
      <p:sp>
        <p:nvSpPr>
          <p:cNvPr id="367" name="Google Shape;367;p23"/>
          <p:cNvSpPr/>
          <p:nvPr/>
        </p:nvSpPr>
        <p:spPr>
          <a:xfrm>
            <a:off x="8869680" y="4645152"/>
            <a:ext cx="283464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3"/>
          <p:cNvSpPr txBox="1"/>
          <p:nvPr/>
        </p:nvSpPr>
        <p:spPr>
          <a:xfrm>
            <a:off x="8979408" y="4645152"/>
            <a:ext cx="26517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5.97</a:t>
            </a:r>
            <a:endParaRPr/>
          </a:p>
        </p:txBody>
      </p:sp>
      <p:sp>
        <p:nvSpPr>
          <p:cNvPr id="369" name="Google Shape;369;p23"/>
          <p:cNvSpPr/>
          <p:nvPr/>
        </p:nvSpPr>
        <p:spPr>
          <a:xfrm>
            <a:off x="502920" y="5157216"/>
            <a:ext cx="1874519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23"/>
          <p:cNvSpPr txBox="1"/>
          <p:nvPr/>
        </p:nvSpPr>
        <p:spPr>
          <a:xfrm>
            <a:off x="612648" y="5157216"/>
            <a:ext cx="1691639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a-SiN</a:t>
            </a:r>
            <a:endParaRPr/>
          </a:p>
        </p:txBody>
      </p:sp>
      <p:sp>
        <p:nvSpPr>
          <p:cNvPr id="371" name="Google Shape;371;p23"/>
          <p:cNvSpPr/>
          <p:nvPr/>
        </p:nvSpPr>
        <p:spPr>
          <a:xfrm>
            <a:off x="2377440" y="5157216"/>
            <a:ext cx="246888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3"/>
          <p:cNvSpPr txBox="1"/>
          <p:nvPr/>
        </p:nvSpPr>
        <p:spPr>
          <a:xfrm>
            <a:off x="2487168" y="5157216"/>
            <a:ext cx="22860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–NH– imide bridge</a:t>
            </a:r>
            <a:endParaRPr/>
          </a:p>
        </p:txBody>
      </p:sp>
      <p:sp>
        <p:nvSpPr>
          <p:cNvPr id="373" name="Google Shape;373;p23"/>
          <p:cNvSpPr/>
          <p:nvPr/>
        </p:nvSpPr>
        <p:spPr>
          <a:xfrm>
            <a:off x="4846320" y="5157216"/>
            <a:ext cx="402336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3"/>
          <p:cNvSpPr txBox="1"/>
          <p:nvPr/>
        </p:nvSpPr>
        <p:spPr>
          <a:xfrm>
            <a:off x="4956048" y="5157216"/>
            <a:ext cx="38404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~2.0 – 5.5</a:t>
            </a:r>
            <a:endParaRPr/>
          </a:p>
        </p:txBody>
      </p:sp>
      <p:sp>
        <p:nvSpPr>
          <p:cNvPr id="375" name="Google Shape;375;p23"/>
          <p:cNvSpPr/>
          <p:nvPr/>
        </p:nvSpPr>
        <p:spPr>
          <a:xfrm>
            <a:off x="8869680" y="5157216"/>
            <a:ext cx="283464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3"/>
          <p:cNvSpPr txBox="1"/>
          <p:nvPr/>
        </p:nvSpPr>
        <p:spPr>
          <a:xfrm>
            <a:off x="8979408" y="5157216"/>
            <a:ext cx="26517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/>
          </a:p>
        </p:txBody>
      </p:sp>
      <p:sp>
        <p:nvSpPr>
          <p:cNvPr id="377" name="Google Shape;377;p23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378" name="Google Shape;3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4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4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4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SCIENCE</a:t>
            </a:r>
            <a:endParaRPr/>
          </a:p>
        </p:txBody>
      </p:sp>
      <p:sp>
        <p:nvSpPr>
          <p:cNvPr id="386" name="Google Shape;386;p24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Site-matched selection — not strongest-binder</a:t>
            </a:r>
            <a:endParaRPr/>
          </a:p>
        </p:txBody>
      </p:sp>
      <p:sp>
        <p:nvSpPr>
          <p:cNvPr id="387" name="Google Shape;387;p24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388" name="Google Shape;388;p24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24"/>
          <p:cNvSpPr txBox="1"/>
          <p:nvPr/>
        </p:nvSpPr>
        <p:spPr>
          <a:xfrm>
            <a:off x="502920" y="1417320"/>
            <a:ext cx="56235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key insight.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 good inhibitor must passivate the specific sites the precursor attacks on the NGS — ranking on raw binding strength selects the wrong pair.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Terminal vs bridge.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Some inhibitors passivate terminal sites easily but not bridge sites; whether that is enough depends on which sites the precursor uses.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Directional chemistry.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Head-group chemistry is directional — some families prefer oxide (–OH), others nitride (–NH₂/–NH).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Honest ranking.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The committed molecule is not auto-promoted; every candidate competes, and unevidenced ones are flagged and ranked below evidenced ones.</a:t>
            </a:r>
            <a:endParaRPr/>
          </a:p>
        </p:txBody>
      </p:sp>
      <p:sp>
        <p:nvSpPr>
          <p:cNvPr id="390" name="Google Shape;390;p24"/>
          <p:cNvSpPr/>
          <p:nvPr/>
        </p:nvSpPr>
        <p:spPr>
          <a:xfrm>
            <a:off x="6355080" y="1417320"/>
            <a:ext cx="5349240" cy="420624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4"/>
          <p:cNvSpPr txBox="1"/>
          <p:nvPr/>
        </p:nvSpPr>
        <p:spPr>
          <a:xfrm>
            <a:off x="6583680" y="157276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Ranking axes</a:t>
            </a:r>
            <a:endParaRPr/>
          </a:p>
        </p:txBody>
      </p:sp>
      <p:sp>
        <p:nvSpPr>
          <p:cNvPr id="392" name="Google Shape;392;p24"/>
          <p:cNvSpPr/>
          <p:nvPr/>
        </p:nvSpPr>
        <p:spPr>
          <a:xfrm>
            <a:off x="6583680" y="2057400"/>
            <a:ext cx="4892040" cy="5029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4"/>
          <p:cNvSpPr/>
          <p:nvPr/>
        </p:nvSpPr>
        <p:spPr>
          <a:xfrm>
            <a:off x="6583680" y="2057400"/>
            <a:ext cx="64008" cy="502920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4"/>
          <p:cNvSpPr txBox="1"/>
          <p:nvPr/>
        </p:nvSpPr>
        <p:spPr>
          <a:xfrm>
            <a:off x="6812280" y="2057400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Differential adsorption (chemisorb NGS / physisorb GS)</a:t>
            </a:r>
            <a:endParaRPr/>
          </a:p>
        </p:txBody>
      </p:sp>
      <p:sp>
        <p:nvSpPr>
          <p:cNvPr id="395" name="Google Shape;395;p24"/>
          <p:cNvSpPr/>
          <p:nvPr/>
        </p:nvSpPr>
        <p:spPr>
          <a:xfrm>
            <a:off x="6583680" y="2624328"/>
            <a:ext cx="4892040" cy="5029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4"/>
          <p:cNvSpPr/>
          <p:nvPr/>
        </p:nvSpPr>
        <p:spPr>
          <a:xfrm>
            <a:off x="6583680" y="2624328"/>
            <a:ext cx="64008" cy="50292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4"/>
          <p:cNvSpPr txBox="1"/>
          <p:nvPr/>
        </p:nvSpPr>
        <p:spPr>
          <a:xfrm>
            <a:off x="6812280" y="2624328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Site-match to the precursor's preferred sites</a:t>
            </a:r>
            <a:endParaRPr/>
          </a:p>
        </p:txBody>
      </p:sp>
      <p:sp>
        <p:nvSpPr>
          <p:cNvPr id="398" name="Google Shape;398;p24"/>
          <p:cNvSpPr/>
          <p:nvPr/>
        </p:nvSpPr>
        <p:spPr>
          <a:xfrm>
            <a:off x="6583680" y="3191256"/>
            <a:ext cx="4892040" cy="5029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4"/>
          <p:cNvSpPr/>
          <p:nvPr/>
        </p:nvSpPr>
        <p:spPr>
          <a:xfrm>
            <a:off x="6583680" y="3191256"/>
            <a:ext cx="64008" cy="50292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4"/>
          <p:cNvSpPr txBox="1"/>
          <p:nvPr/>
        </p:nvSpPr>
        <p:spPr>
          <a:xfrm>
            <a:off x="6812343" y="3337568"/>
            <a:ext cx="46176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Volatility — </a:t>
            </a:r>
            <a:r>
              <a:rPr b="1" lang="en-US" sz="1200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disable</a:t>
            </a:r>
            <a:r>
              <a:rPr b="1" i="0" lang="en-US" sz="12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 from vapor</a:t>
            </a:r>
            <a:endParaRPr/>
          </a:p>
        </p:txBody>
      </p:sp>
      <p:sp>
        <p:nvSpPr>
          <p:cNvPr id="401" name="Google Shape;401;p24"/>
          <p:cNvSpPr/>
          <p:nvPr/>
        </p:nvSpPr>
        <p:spPr>
          <a:xfrm>
            <a:off x="6583680" y="3758184"/>
            <a:ext cx="4892040" cy="5029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4"/>
          <p:cNvSpPr/>
          <p:nvPr/>
        </p:nvSpPr>
        <p:spPr>
          <a:xfrm>
            <a:off x="6583680" y="3758184"/>
            <a:ext cx="64008" cy="502920"/>
          </a:xfrm>
          <a:prstGeom prst="rect">
            <a:avLst/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4"/>
          <p:cNvSpPr txBox="1"/>
          <p:nvPr/>
        </p:nvSpPr>
        <p:spPr>
          <a:xfrm>
            <a:off x="6812280" y="3758184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Removability after growth</a:t>
            </a:r>
            <a:endParaRPr/>
          </a:p>
        </p:txBody>
      </p:sp>
      <p:sp>
        <p:nvSpPr>
          <p:cNvPr id="404" name="Google Shape;404;p24"/>
          <p:cNvSpPr/>
          <p:nvPr/>
        </p:nvSpPr>
        <p:spPr>
          <a:xfrm>
            <a:off x="6583680" y="4325112"/>
            <a:ext cx="4892040" cy="5029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4"/>
          <p:cNvSpPr/>
          <p:nvPr/>
        </p:nvSpPr>
        <p:spPr>
          <a:xfrm>
            <a:off x="6583680" y="4325112"/>
            <a:ext cx="64008" cy="502920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4"/>
          <p:cNvSpPr txBox="1"/>
          <p:nvPr/>
        </p:nvSpPr>
        <p:spPr>
          <a:xfrm>
            <a:off x="6812280" y="4325112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Steric blocking footprint of the tail group</a:t>
            </a:r>
            <a:endParaRPr/>
          </a:p>
        </p:txBody>
      </p:sp>
      <p:sp>
        <p:nvSpPr>
          <p:cNvPr id="407" name="Google Shape;407;p24"/>
          <p:cNvSpPr/>
          <p:nvPr/>
        </p:nvSpPr>
        <p:spPr>
          <a:xfrm>
            <a:off x="6583680" y="4892040"/>
            <a:ext cx="4892040" cy="5029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4"/>
          <p:cNvSpPr/>
          <p:nvPr/>
        </p:nvSpPr>
        <p:spPr>
          <a:xfrm>
            <a:off x="6583680" y="4892040"/>
            <a:ext cx="64008" cy="50292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4"/>
          <p:cNvSpPr txBox="1"/>
          <p:nvPr/>
        </p:nvSpPr>
        <p:spPr>
          <a:xfrm>
            <a:off x="6812280" y="4892040"/>
            <a:ext cx="4617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Literature grounding in the knowledge graph</a:t>
            </a:r>
            <a:endParaRPr/>
          </a:p>
        </p:txBody>
      </p:sp>
      <p:sp>
        <p:nvSpPr>
          <p:cNvPr id="410" name="Google Shape;410;p24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411" name="Google Shape;41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5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5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5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SCREENING FUNNEL</a:t>
            </a:r>
            <a:endParaRPr/>
          </a:p>
        </p:txBody>
      </p:sp>
      <p:sp>
        <p:nvSpPr>
          <p:cNvPr id="419" name="Google Shape;419;p25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From a single test to a closed-loop batch screening campaign</a:t>
            </a:r>
            <a:endParaRPr/>
          </a:p>
        </p:txBody>
      </p:sp>
      <p:sp>
        <p:nvSpPr>
          <p:cNvPr id="420" name="Google Shape;420;p25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421" name="Google Shape;421;p25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25"/>
          <p:cNvSpPr/>
          <p:nvPr/>
        </p:nvSpPr>
        <p:spPr>
          <a:xfrm>
            <a:off x="502920" y="1463040"/>
            <a:ext cx="11201400" cy="749808"/>
          </a:xfrm>
          <a:prstGeom prst="roundRect">
            <a:avLst>
              <a:gd fmla="val 16667" name="adj"/>
            </a:avLst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25"/>
          <p:cNvSpPr txBox="1"/>
          <p:nvPr/>
        </p:nvSpPr>
        <p:spPr>
          <a:xfrm>
            <a:off x="502920" y="1536192"/>
            <a:ext cx="11201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Pool</a:t>
            </a:r>
            <a:endParaRPr/>
          </a:p>
        </p:txBody>
      </p:sp>
      <p:sp>
        <p:nvSpPr>
          <p:cNvPr id="424" name="Google Shape;424;p25"/>
          <p:cNvSpPr txBox="1"/>
          <p:nvPr/>
        </p:nvSpPr>
        <p:spPr>
          <a:xfrm>
            <a:off x="502920" y="1865376"/>
            <a:ext cx="112014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10–50 candidates: library + mined + AI-proposed novel molecules</a:t>
            </a:r>
            <a:endParaRPr/>
          </a:p>
        </p:txBody>
      </p:sp>
      <p:sp>
        <p:nvSpPr>
          <p:cNvPr id="425" name="Google Shape;425;p25"/>
          <p:cNvSpPr/>
          <p:nvPr/>
        </p:nvSpPr>
        <p:spPr>
          <a:xfrm>
            <a:off x="5971032" y="2203704"/>
            <a:ext cx="256032" cy="12801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5B607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5"/>
          <p:cNvSpPr/>
          <p:nvPr/>
        </p:nvSpPr>
        <p:spPr>
          <a:xfrm>
            <a:off x="1348740" y="2386584"/>
            <a:ext cx="9509760" cy="749808"/>
          </a:xfrm>
          <a:prstGeom prst="roundRect">
            <a:avLst>
              <a:gd fmla="val 16667" name="adj"/>
            </a:avLst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5"/>
          <p:cNvSpPr txBox="1"/>
          <p:nvPr/>
        </p:nvSpPr>
        <p:spPr>
          <a:xfrm>
            <a:off x="1348740" y="2459736"/>
            <a:ext cx="95097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Tier-0 prior rank</a:t>
            </a:r>
            <a:endParaRPr/>
          </a:p>
        </p:txBody>
      </p:sp>
      <p:sp>
        <p:nvSpPr>
          <p:cNvPr id="428" name="Google Shape;428;p25"/>
          <p:cNvSpPr txBox="1"/>
          <p:nvPr/>
        </p:nvSpPr>
        <p:spPr>
          <a:xfrm>
            <a:off x="1348740" y="2788920"/>
            <a:ext cx="95097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All N ranked by the heuristic — honest, no committed pin</a:t>
            </a:r>
            <a:endParaRPr/>
          </a:p>
        </p:txBody>
      </p:sp>
      <p:sp>
        <p:nvSpPr>
          <p:cNvPr id="429" name="Google Shape;429;p25"/>
          <p:cNvSpPr/>
          <p:nvPr/>
        </p:nvSpPr>
        <p:spPr>
          <a:xfrm>
            <a:off x="5971032" y="3127248"/>
            <a:ext cx="256032" cy="12801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5B607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5"/>
          <p:cNvSpPr/>
          <p:nvPr/>
        </p:nvSpPr>
        <p:spPr>
          <a:xfrm>
            <a:off x="2354580" y="3310128"/>
            <a:ext cx="7498079" cy="749808"/>
          </a:xfrm>
          <a:prstGeom prst="roundRect">
            <a:avLst>
              <a:gd fmla="val 16667" name="adj"/>
            </a:avLst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25"/>
          <p:cNvSpPr txBox="1"/>
          <p:nvPr/>
        </p:nvSpPr>
        <p:spPr>
          <a:xfrm>
            <a:off x="2354580" y="3383280"/>
            <a:ext cx="7498079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MLIP batch screen</a:t>
            </a:r>
            <a:endParaRPr/>
          </a:p>
        </p:txBody>
      </p:sp>
      <p:sp>
        <p:nvSpPr>
          <p:cNvPr id="432" name="Google Shape;432;p25"/>
          <p:cNvSpPr txBox="1"/>
          <p:nvPr/>
        </p:nvSpPr>
        <p:spPr>
          <a:xfrm>
            <a:off x="2354580" y="3712464"/>
            <a:ext cx="7498079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Shortlist scored on shared, seed-identical gated slabs</a:t>
            </a:r>
            <a:endParaRPr/>
          </a:p>
        </p:txBody>
      </p:sp>
      <p:sp>
        <p:nvSpPr>
          <p:cNvPr id="433" name="Google Shape;433;p25"/>
          <p:cNvSpPr/>
          <p:nvPr/>
        </p:nvSpPr>
        <p:spPr>
          <a:xfrm>
            <a:off x="5971032" y="4050792"/>
            <a:ext cx="256032" cy="12801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5B607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5"/>
          <p:cNvSpPr/>
          <p:nvPr/>
        </p:nvSpPr>
        <p:spPr>
          <a:xfrm>
            <a:off x="3497580" y="4233672"/>
            <a:ext cx="5212080" cy="749808"/>
          </a:xfrm>
          <a:prstGeom prst="roundRect">
            <a:avLst>
              <a:gd fmla="val 16667" name="adj"/>
            </a:avLst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5"/>
          <p:cNvSpPr txBox="1"/>
          <p:nvPr/>
        </p:nvSpPr>
        <p:spPr>
          <a:xfrm>
            <a:off x="3497580" y="4306824"/>
            <a:ext cx="5212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Full-fidelity top-k</a:t>
            </a:r>
            <a:endParaRPr/>
          </a:p>
        </p:txBody>
      </p:sp>
      <p:sp>
        <p:nvSpPr>
          <p:cNvPr id="436" name="Google Shape;436;p25"/>
          <p:cNvSpPr txBox="1"/>
          <p:nvPr/>
        </p:nvSpPr>
        <p:spPr>
          <a:xfrm>
            <a:off x="3497580" y="4636008"/>
            <a:ext cx="52120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Best few re-run at full ensemble fidelity</a:t>
            </a:r>
            <a:endParaRPr/>
          </a:p>
        </p:txBody>
      </p:sp>
      <p:sp>
        <p:nvSpPr>
          <p:cNvPr id="437" name="Google Shape;437;p25"/>
          <p:cNvSpPr/>
          <p:nvPr/>
        </p:nvSpPr>
        <p:spPr>
          <a:xfrm>
            <a:off x="5971032" y="4974336"/>
            <a:ext cx="256032" cy="12801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5B607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5"/>
          <p:cNvSpPr/>
          <p:nvPr/>
        </p:nvSpPr>
        <p:spPr>
          <a:xfrm>
            <a:off x="4549140" y="5157216"/>
            <a:ext cx="3108960" cy="749808"/>
          </a:xfrm>
          <a:prstGeom prst="roundRect">
            <a:avLst>
              <a:gd fmla="val 16667" name="adj"/>
            </a:avLst>
          </a:prstGeom>
          <a:solidFill>
            <a:srgbClr val="D62C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5"/>
          <p:cNvSpPr txBox="1"/>
          <p:nvPr/>
        </p:nvSpPr>
        <p:spPr>
          <a:xfrm>
            <a:off x="4549140" y="5230368"/>
            <a:ext cx="3108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Recommendation</a:t>
            </a:r>
            <a:endParaRPr/>
          </a:p>
        </p:txBody>
      </p:sp>
      <p:sp>
        <p:nvSpPr>
          <p:cNvPr id="440" name="Google Shape;440;p25"/>
          <p:cNvSpPr txBox="1"/>
          <p:nvPr/>
        </p:nvSpPr>
        <p:spPr>
          <a:xfrm>
            <a:off x="4549140" y="5559552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 names winner, runners-up, risks; a failed campaign spawns a new AI-designed generation</a:t>
            </a:r>
            <a:endParaRPr/>
          </a:p>
        </p:txBody>
      </p:sp>
      <p:sp>
        <p:nvSpPr>
          <p:cNvPr id="441" name="Google Shape;441;p25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442" name="Google Shape;44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6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6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6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SCREENING FUNNEL</a:t>
            </a:r>
            <a:endParaRPr/>
          </a:p>
        </p:txBody>
      </p:sp>
      <p:sp>
        <p:nvSpPr>
          <p:cNvPr id="450" name="Google Shape;450;p26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makes the campaign trustworthy</a:t>
            </a:r>
            <a:endParaRPr/>
          </a:p>
        </p:txBody>
      </p:sp>
      <p:sp>
        <p:nvSpPr>
          <p:cNvPr id="451" name="Google Shape;451;p26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452" name="Google Shape;452;p26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6"/>
          <p:cNvSpPr/>
          <p:nvPr/>
        </p:nvSpPr>
        <p:spPr>
          <a:xfrm>
            <a:off x="502920" y="1417320"/>
            <a:ext cx="5532120" cy="196596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6"/>
          <p:cNvSpPr/>
          <p:nvPr/>
        </p:nvSpPr>
        <p:spPr>
          <a:xfrm>
            <a:off x="502920" y="1417320"/>
            <a:ext cx="5532120" cy="50292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6"/>
          <p:cNvSpPr txBox="1"/>
          <p:nvPr/>
        </p:nvSpPr>
        <p:spPr>
          <a:xfrm>
            <a:off x="731520" y="1472184"/>
            <a:ext cx="5166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Apples-to-apples</a:t>
            </a:r>
            <a:endParaRPr/>
          </a:p>
        </p:txBody>
      </p:sp>
      <p:sp>
        <p:nvSpPr>
          <p:cNvPr id="456" name="Google Shape;456;p26"/>
          <p:cNvSpPr txBox="1"/>
          <p:nvPr/>
        </p:nvSpPr>
        <p:spPr>
          <a:xfrm>
            <a:off x="731520" y="2039112"/>
            <a:ext cx="50748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Every candidate is scored on the SAME seed-identical gated slab ensembles  differences are chemistry, not surface luck. Slabs are built once per campaign, not per molecule.</a:t>
            </a:r>
            <a:endParaRPr/>
          </a:p>
        </p:txBody>
      </p:sp>
      <p:sp>
        <p:nvSpPr>
          <p:cNvPr id="457" name="Google Shape;457;p26"/>
          <p:cNvSpPr/>
          <p:nvPr/>
        </p:nvSpPr>
        <p:spPr>
          <a:xfrm>
            <a:off x="6172200" y="1417320"/>
            <a:ext cx="5532120" cy="196596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6"/>
          <p:cNvSpPr/>
          <p:nvPr/>
        </p:nvSpPr>
        <p:spPr>
          <a:xfrm>
            <a:off x="6172200" y="1417320"/>
            <a:ext cx="5532120" cy="50292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6"/>
          <p:cNvSpPr txBox="1"/>
          <p:nvPr/>
        </p:nvSpPr>
        <p:spPr>
          <a:xfrm>
            <a:off x="6400800" y="1472184"/>
            <a:ext cx="5166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Honest competition</a:t>
            </a:r>
            <a:endParaRPr/>
          </a:p>
        </p:txBody>
      </p:sp>
      <p:sp>
        <p:nvSpPr>
          <p:cNvPr id="460" name="Google Shape;460;p26"/>
          <p:cNvSpPr txBox="1"/>
          <p:nvPr/>
        </p:nvSpPr>
        <p:spPr>
          <a:xfrm>
            <a:off x="6400800" y="2039112"/>
            <a:ext cx="50748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No candidate is auto-promoted. The committed hypothesis molecule is always screened, and the recommendation states plainly whether it won or lost and to whom.</a:t>
            </a:r>
            <a:endParaRPr/>
          </a:p>
        </p:txBody>
      </p:sp>
      <p:sp>
        <p:nvSpPr>
          <p:cNvPr id="461" name="Google Shape;461;p26"/>
          <p:cNvSpPr/>
          <p:nvPr/>
        </p:nvSpPr>
        <p:spPr>
          <a:xfrm>
            <a:off x="502920" y="3566160"/>
            <a:ext cx="5532120" cy="196596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6"/>
          <p:cNvSpPr/>
          <p:nvPr/>
        </p:nvSpPr>
        <p:spPr>
          <a:xfrm>
            <a:off x="502920" y="3566160"/>
            <a:ext cx="5532120" cy="502920"/>
          </a:xfrm>
          <a:prstGeom prst="rect">
            <a:avLst/>
          </a:prstGeom>
          <a:solidFill>
            <a:srgbClr val="4C3AC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6"/>
          <p:cNvSpPr txBox="1"/>
          <p:nvPr/>
        </p:nvSpPr>
        <p:spPr>
          <a:xfrm>
            <a:off x="731520" y="3621024"/>
            <a:ext cx="5166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Evidence discipline</a:t>
            </a:r>
            <a:endParaRPr/>
          </a:p>
        </p:txBody>
      </p:sp>
      <p:sp>
        <p:nvSpPr>
          <p:cNvPr id="464" name="Google Shape;464;p26"/>
          <p:cNvSpPr txBox="1"/>
          <p:nvPr/>
        </p:nvSpPr>
        <p:spPr>
          <a:xfrm>
            <a:off x="731520" y="4187952"/>
            <a:ext cx="50749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Extrapolated, missing, or AI-proposed priors are flagged and cannot be reported as “supported” on priors alone; a calibration delta is carried on every energetics value.</a:t>
            </a:r>
            <a:endParaRPr/>
          </a:p>
        </p:txBody>
      </p:sp>
      <p:sp>
        <p:nvSpPr>
          <p:cNvPr id="465" name="Google Shape;465;p26"/>
          <p:cNvSpPr/>
          <p:nvPr/>
        </p:nvSpPr>
        <p:spPr>
          <a:xfrm>
            <a:off x="6172200" y="3566160"/>
            <a:ext cx="5532120" cy="196596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6"/>
          <p:cNvSpPr/>
          <p:nvPr/>
        </p:nvSpPr>
        <p:spPr>
          <a:xfrm>
            <a:off x="6172200" y="3566160"/>
            <a:ext cx="5532120" cy="502920"/>
          </a:xfrm>
          <a:prstGeom prst="rect">
            <a:avLst/>
          </a:prstGeom>
          <a:solidFill>
            <a:srgbClr val="D62C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6"/>
          <p:cNvSpPr txBox="1"/>
          <p:nvPr/>
        </p:nvSpPr>
        <p:spPr>
          <a:xfrm>
            <a:off x="6400800" y="3621024"/>
            <a:ext cx="5166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 can't cheat physics</a:t>
            </a:r>
            <a:endParaRPr/>
          </a:p>
        </p:txBody>
      </p:sp>
      <p:sp>
        <p:nvSpPr>
          <p:cNvPr id="468" name="Google Shape;468;p26"/>
          <p:cNvSpPr txBox="1"/>
          <p:nvPr/>
        </p:nvSpPr>
        <p:spPr>
          <a:xfrm>
            <a:off x="6400800" y="4187952"/>
            <a:ext cx="50748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The recommendation agent may narrate risk and context, but a guard forces the winner to be the top candidate by computed selectivity it can never override the numbers.</a:t>
            </a:r>
            <a:endParaRPr/>
          </a:p>
        </p:txBody>
      </p:sp>
      <p:sp>
        <p:nvSpPr>
          <p:cNvPr id="469" name="Google Shape;469;p26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470" name="Google Shape;47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27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27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7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SCIENCE</a:t>
            </a:r>
            <a:endParaRPr/>
          </a:p>
        </p:txBody>
      </p:sp>
      <p:sp>
        <p:nvSpPr>
          <p:cNvPr id="478" name="Google Shape;478;p27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in-silico testing protocol</a:t>
            </a:r>
            <a:endParaRPr/>
          </a:p>
        </p:txBody>
      </p:sp>
      <p:sp>
        <p:nvSpPr>
          <p:cNvPr id="479" name="Google Shape;479;p27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480" name="Google Shape;480;p27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27"/>
          <p:cNvSpPr/>
          <p:nvPr/>
        </p:nvSpPr>
        <p:spPr>
          <a:xfrm>
            <a:off x="502920" y="1417320"/>
            <a:ext cx="7589520" cy="841248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7"/>
          <p:cNvSpPr/>
          <p:nvPr/>
        </p:nvSpPr>
        <p:spPr>
          <a:xfrm>
            <a:off x="658368" y="1600200"/>
            <a:ext cx="475488" cy="475488"/>
          </a:xfrm>
          <a:prstGeom prst="ellipse">
            <a:avLst/>
          </a:prstGeom>
          <a:solidFill>
            <a:srgbClr val="2B1D5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7"/>
          <p:cNvSpPr txBox="1"/>
          <p:nvPr/>
        </p:nvSpPr>
        <p:spPr>
          <a:xfrm>
            <a:off x="658368" y="1600200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84" name="Google Shape;484;p27"/>
          <p:cNvSpPr txBox="1"/>
          <p:nvPr/>
        </p:nvSpPr>
        <p:spPr>
          <a:xfrm>
            <a:off x="1371600" y="1527048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Build &amp; gate surfaces</a:t>
            </a:r>
            <a:endParaRPr/>
          </a:p>
        </p:txBody>
      </p:sp>
      <p:sp>
        <p:nvSpPr>
          <p:cNvPr id="485" name="Google Shape;485;p27"/>
          <p:cNvSpPr txBox="1"/>
          <p:nvPr/>
        </p:nvSpPr>
        <p:spPr>
          <a:xfrm>
            <a:off x="1371600" y="1847088"/>
            <a:ext cx="6629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Ensemble of N growth + N non-growth slabs; each passed through the fidelity gate, failures discarded.</a:t>
            </a:r>
            <a:endParaRPr/>
          </a:p>
        </p:txBody>
      </p:sp>
      <p:sp>
        <p:nvSpPr>
          <p:cNvPr id="486" name="Google Shape;486;p27"/>
          <p:cNvSpPr/>
          <p:nvPr/>
        </p:nvSpPr>
        <p:spPr>
          <a:xfrm>
            <a:off x="502920" y="2350008"/>
            <a:ext cx="7589520" cy="841248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27"/>
          <p:cNvSpPr/>
          <p:nvPr/>
        </p:nvSpPr>
        <p:spPr>
          <a:xfrm>
            <a:off x="658368" y="2532888"/>
            <a:ext cx="475488" cy="475488"/>
          </a:xfrm>
          <a:prstGeom prst="ellipse">
            <a:avLst/>
          </a:prstGeom>
          <a:solidFill>
            <a:srgbClr val="2E6BE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7"/>
          <p:cNvSpPr txBox="1"/>
          <p:nvPr/>
        </p:nvSpPr>
        <p:spPr>
          <a:xfrm>
            <a:off x="658368" y="2532888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489" name="Google Shape;489;p27"/>
          <p:cNvSpPr txBox="1"/>
          <p:nvPr/>
        </p:nvSpPr>
        <p:spPr>
          <a:xfrm>
            <a:off x="1371600" y="2459736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Site-resolved reactivity screen</a:t>
            </a:r>
            <a:endParaRPr/>
          </a:p>
        </p:txBody>
      </p:sp>
      <p:sp>
        <p:nvSpPr>
          <p:cNvPr id="490" name="Google Shape;490;p27"/>
          <p:cNvSpPr txBox="1"/>
          <p:nvPr/>
        </p:nvSpPr>
        <p:spPr>
          <a:xfrm>
            <a:off x="1371600" y="2779776"/>
            <a:ext cx="6629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Per-site reaction energy ΔEr (and barrier Ea where available) for the inhibitor on each surface.</a:t>
            </a:r>
            <a:endParaRPr/>
          </a:p>
        </p:txBody>
      </p:sp>
      <p:sp>
        <p:nvSpPr>
          <p:cNvPr id="491" name="Google Shape;491;p27"/>
          <p:cNvSpPr/>
          <p:nvPr/>
        </p:nvSpPr>
        <p:spPr>
          <a:xfrm>
            <a:off x="502920" y="3282696"/>
            <a:ext cx="7589520" cy="841248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27"/>
          <p:cNvSpPr/>
          <p:nvPr/>
        </p:nvSpPr>
        <p:spPr>
          <a:xfrm>
            <a:off x="658368" y="3465576"/>
            <a:ext cx="475488" cy="475488"/>
          </a:xfrm>
          <a:prstGeom prst="ellipse">
            <a:avLst/>
          </a:prstGeom>
          <a:solidFill>
            <a:srgbClr val="17B0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27"/>
          <p:cNvSpPr txBox="1"/>
          <p:nvPr/>
        </p:nvSpPr>
        <p:spPr>
          <a:xfrm>
            <a:off x="658368" y="3465576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494" name="Google Shape;494;p27"/>
          <p:cNvSpPr txBox="1"/>
          <p:nvPr/>
        </p:nvSpPr>
        <p:spPr>
          <a:xfrm>
            <a:off x="1371600" y="3392424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Effective blocking coverage</a:t>
            </a:r>
            <a:endParaRPr/>
          </a:p>
        </p:txBody>
      </p:sp>
      <p:sp>
        <p:nvSpPr>
          <p:cNvPr id="495" name="Google Shape;495;p27"/>
          <p:cNvSpPr txBox="1"/>
          <p:nvPr/>
        </p:nvSpPr>
        <p:spPr>
          <a:xfrm>
            <a:off x="1371600" y="3712464"/>
            <a:ext cx="6629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Blocking = Σ (site fraction × reactivity), counting only chemisorbed, purge-surviving inhibitor.</a:t>
            </a:r>
            <a:endParaRPr/>
          </a:p>
        </p:txBody>
      </p:sp>
      <p:sp>
        <p:nvSpPr>
          <p:cNvPr id="496" name="Google Shape;496;p27"/>
          <p:cNvSpPr/>
          <p:nvPr/>
        </p:nvSpPr>
        <p:spPr>
          <a:xfrm>
            <a:off x="502920" y="4215384"/>
            <a:ext cx="7589520" cy="841248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7"/>
          <p:cNvSpPr/>
          <p:nvPr/>
        </p:nvSpPr>
        <p:spPr>
          <a:xfrm>
            <a:off x="658368" y="4398264"/>
            <a:ext cx="475488" cy="475488"/>
          </a:xfrm>
          <a:prstGeom prst="ellipse">
            <a:avLst/>
          </a:prstGeom>
          <a:solidFill>
            <a:srgbClr val="6A4C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27"/>
          <p:cNvSpPr txBox="1"/>
          <p:nvPr/>
        </p:nvSpPr>
        <p:spPr>
          <a:xfrm>
            <a:off x="658368" y="4398264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499" name="Google Shape;499;p27"/>
          <p:cNvSpPr txBox="1"/>
          <p:nvPr/>
        </p:nvSpPr>
        <p:spPr>
          <a:xfrm>
            <a:off x="1371600" y="4325112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Precursor barrier (optional)</a:t>
            </a:r>
            <a:endParaRPr/>
          </a:p>
        </p:txBody>
      </p:sp>
      <p:sp>
        <p:nvSpPr>
          <p:cNvPr id="500" name="Google Shape;500;p27"/>
          <p:cNvSpPr txBox="1"/>
          <p:nvPr/>
        </p:nvSpPr>
        <p:spPr>
          <a:xfrm>
            <a:off x="1371600" y="4645152"/>
            <a:ext cx="6629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Higher-tier barrier check on clean vs inhibited surface, reported explicitly as a lower bound.</a:t>
            </a:r>
            <a:endParaRPr/>
          </a:p>
        </p:txBody>
      </p:sp>
      <p:sp>
        <p:nvSpPr>
          <p:cNvPr id="501" name="Google Shape;501;p27"/>
          <p:cNvSpPr/>
          <p:nvPr/>
        </p:nvSpPr>
        <p:spPr>
          <a:xfrm>
            <a:off x="502920" y="5148072"/>
            <a:ext cx="7589520" cy="841248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27"/>
          <p:cNvSpPr/>
          <p:nvPr/>
        </p:nvSpPr>
        <p:spPr>
          <a:xfrm>
            <a:off x="658368" y="5330952"/>
            <a:ext cx="475488" cy="475488"/>
          </a:xfrm>
          <a:prstGeom prst="ellipse">
            <a:avLst/>
          </a:prstGeom>
          <a:solidFill>
            <a:srgbClr val="2B1D5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7"/>
          <p:cNvSpPr txBox="1"/>
          <p:nvPr/>
        </p:nvSpPr>
        <p:spPr>
          <a:xfrm>
            <a:off x="658368" y="533095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504" name="Google Shape;504;p27"/>
          <p:cNvSpPr txBox="1"/>
          <p:nvPr/>
        </p:nvSpPr>
        <p:spPr>
          <a:xfrm>
            <a:off x="1371600" y="5257800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Selectivity &amp; verdict</a:t>
            </a:r>
            <a:endParaRPr/>
          </a:p>
        </p:txBody>
      </p:sp>
      <p:sp>
        <p:nvSpPr>
          <p:cNvPr id="505" name="Google Shape;505;p27"/>
          <p:cNvSpPr txBox="1"/>
          <p:nvPr/>
        </p:nvSpPr>
        <p:spPr>
          <a:xfrm>
            <a:off x="1371600" y="5577840"/>
            <a:ext cx="6629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Differential blocking → nucleation delay → S(N); report S at 10 nm as mean ± std with a calibration flag.</a:t>
            </a:r>
            <a:endParaRPr/>
          </a:p>
        </p:txBody>
      </p:sp>
      <p:sp>
        <p:nvSpPr>
          <p:cNvPr id="506" name="Google Shape;506;p27"/>
          <p:cNvSpPr/>
          <p:nvPr/>
        </p:nvSpPr>
        <p:spPr>
          <a:xfrm>
            <a:off x="8275320" y="1417320"/>
            <a:ext cx="3456432" cy="4590288"/>
          </a:xfrm>
          <a:prstGeom prst="roundRect">
            <a:avLst>
              <a:gd fmla="val 16667" name="adj"/>
            </a:avLst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7"/>
          <p:cNvSpPr txBox="1"/>
          <p:nvPr/>
        </p:nvSpPr>
        <p:spPr>
          <a:xfrm>
            <a:off x="8503920" y="160020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selectivity driver</a:t>
            </a:r>
            <a:endParaRPr/>
          </a:p>
        </p:txBody>
      </p:sp>
      <p:sp>
        <p:nvSpPr>
          <p:cNvPr id="508" name="Google Shape;508;p27"/>
          <p:cNvSpPr txBox="1"/>
          <p:nvPr/>
        </p:nvSpPr>
        <p:spPr>
          <a:xfrm>
            <a:off x="8503920" y="2148840"/>
            <a:ext cx="30175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Differential blocking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7CEF2"/>
                </a:solidFill>
                <a:latin typeface="Calibri"/>
                <a:ea typeface="Calibri"/>
                <a:cs typeface="Calibri"/>
                <a:sym typeface="Calibri"/>
              </a:rPr>
              <a:t>θ_block(NGS) − θ_block(GS)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C7CEF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6DCF5"/>
                </a:solidFill>
                <a:latin typeface="Calibri"/>
                <a:ea typeface="Calibri"/>
                <a:cs typeface="Calibri"/>
                <a:sym typeface="Calibri"/>
              </a:rPr>
              <a:t>— not raw Langmuir coverage, which saturates at process temperature and falsely washes out selectivity.</a:t>
            </a:r>
            <a:endParaRPr/>
          </a:p>
        </p:txBody>
      </p:sp>
      <p:sp>
        <p:nvSpPr>
          <p:cNvPr id="509" name="Google Shape;509;p27"/>
          <p:cNvSpPr txBox="1"/>
          <p:nvPr/>
        </p:nvSpPr>
        <p:spPr>
          <a:xfrm>
            <a:off x="8503920" y="461772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Every intermediate is logged, so each number in the paper traces to a computation.</a:t>
            </a:r>
            <a:endParaRPr/>
          </a:p>
        </p:txBody>
      </p:sp>
      <p:sp>
        <p:nvSpPr>
          <p:cNvPr id="510" name="Google Shape;510;p27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511" name="Google Shape;51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28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28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8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SCIENCE</a:t>
            </a:r>
            <a:endParaRPr/>
          </a:p>
        </p:txBody>
      </p:sp>
      <p:sp>
        <p:nvSpPr>
          <p:cNvPr id="519" name="Google Shape;519;p28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Tiered compute — runs on a laptop or a GPU</a:t>
            </a:r>
            <a:endParaRPr/>
          </a:p>
        </p:txBody>
      </p:sp>
      <p:sp>
        <p:nvSpPr>
          <p:cNvPr id="520" name="Google Shape;520;p28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521" name="Google Shape;521;p28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28"/>
          <p:cNvSpPr/>
          <p:nvPr/>
        </p:nvSpPr>
        <p:spPr>
          <a:xfrm>
            <a:off x="502920" y="1463040"/>
            <a:ext cx="3639312" cy="420624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8"/>
          <p:cNvSpPr/>
          <p:nvPr/>
        </p:nvSpPr>
        <p:spPr>
          <a:xfrm>
            <a:off x="502920" y="1463040"/>
            <a:ext cx="3639312" cy="86868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8"/>
          <p:cNvSpPr txBox="1"/>
          <p:nvPr/>
        </p:nvSpPr>
        <p:spPr>
          <a:xfrm>
            <a:off x="502920" y="1572768"/>
            <a:ext cx="363931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Tier 0</a:t>
            </a:r>
            <a:endParaRPr/>
          </a:p>
        </p:txBody>
      </p:sp>
      <p:sp>
        <p:nvSpPr>
          <p:cNvPr id="525" name="Google Shape;525;p28"/>
          <p:cNvSpPr txBox="1"/>
          <p:nvPr/>
        </p:nvSpPr>
        <p:spPr>
          <a:xfrm>
            <a:off x="502920" y="1975104"/>
            <a:ext cx="363931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EF1FB"/>
                </a:solidFill>
                <a:latin typeface="Calibri"/>
                <a:ea typeface="Calibri"/>
                <a:cs typeface="Calibri"/>
                <a:sym typeface="Calibri"/>
              </a:rPr>
              <a:t>Anywhere · no GPU</a:t>
            </a:r>
            <a:endParaRPr/>
          </a:p>
        </p:txBody>
      </p:sp>
      <p:sp>
        <p:nvSpPr>
          <p:cNvPr id="526" name="Google Shape;526;p28"/>
          <p:cNvSpPr txBox="1"/>
          <p:nvPr/>
        </p:nvSpPr>
        <p:spPr>
          <a:xfrm>
            <a:off x="777240" y="2560320"/>
            <a:ext cx="3136392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Fidelity gate + site-resolved blocking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Literature / semi-empirical energy priors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Full selectivity + verdict, fully reproducible</a:t>
            </a:r>
            <a:endParaRPr/>
          </a:p>
        </p:txBody>
      </p:sp>
      <p:sp>
        <p:nvSpPr>
          <p:cNvPr id="527" name="Google Shape;527;p28"/>
          <p:cNvSpPr/>
          <p:nvPr/>
        </p:nvSpPr>
        <p:spPr>
          <a:xfrm>
            <a:off x="4325112" y="1463040"/>
            <a:ext cx="3639312" cy="420624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8"/>
          <p:cNvSpPr/>
          <p:nvPr/>
        </p:nvSpPr>
        <p:spPr>
          <a:xfrm>
            <a:off x="4325112" y="1463040"/>
            <a:ext cx="3639312" cy="86868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8"/>
          <p:cNvSpPr txBox="1"/>
          <p:nvPr/>
        </p:nvSpPr>
        <p:spPr>
          <a:xfrm>
            <a:off x="4325112" y="1572768"/>
            <a:ext cx="363931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Tier 1</a:t>
            </a:r>
            <a:endParaRPr/>
          </a:p>
        </p:txBody>
      </p:sp>
      <p:sp>
        <p:nvSpPr>
          <p:cNvPr id="530" name="Google Shape;530;p28"/>
          <p:cNvSpPr txBox="1"/>
          <p:nvPr/>
        </p:nvSpPr>
        <p:spPr>
          <a:xfrm>
            <a:off x="4325112" y="1975104"/>
            <a:ext cx="363931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EF1FB"/>
                </a:solidFill>
                <a:latin typeface="Calibri"/>
                <a:ea typeface="Calibri"/>
                <a:cs typeface="Calibri"/>
                <a:sym typeface="Calibri"/>
              </a:rPr>
              <a:t>GPU or CPU</a:t>
            </a:r>
            <a:endParaRPr/>
          </a:p>
        </p:txBody>
      </p:sp>
      <p:sp>
        <p:nvSpPr>
          <p:cNvPr id="531" name="Google Shape;531;p28"/>
          <p:cNvSpPr txBox="1"/>
          <p:nvPr/>
        </p:nvSpPr>
        <p:spPr>
          <a:xfrm>
            <a:off x="4599432" y="2560320"/>
            <a:ext cx="3136392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Real 3D molecules on gated slabs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Foundation-MLIP (MACE / CHGNet) adsorption search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Reaction-energy endpoints · opt-in MLIP melt-quench slabs</a:t>
            </a:r>
            <a:endParaRPr/>
          </a:p>
        </p:txBody>
      </p:sp>
      <p:sp>
        <p:nvSpPr>
          <p:cNvPr id="532" name="Google Shape;532;p28"/>
          <p:cNvSpPr/>
          <p:nvPr/>
        </p:nvSpPr>
        <p:spPr>
          <a:xfrm>
            <a:off x="8147304" y="1463040"/>
            <a:ext cx="3639312" cy="420624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8"/>
          <p:cNvSpPr/>
          <p:nvPr/>
        </p:nvSpPr>
        <p:spPr>
          <a:xfrm>
            <a:off x="8147304" y="1463040"/>
            <a:ext cx="3639312" cy="868680"/>
          </a:xfrm>
          <a:prstGeom prst="rect">
            <a:avLst/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8"/>
          <p:cNvSpPr txBox="1"/>
          <p:nvPr/>
        </p:nvSpPr>
        <p:spPr>
          <a:xfrm>
            <a:off x="8147304" y="1572768"/>
            <a:ext cx="363931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Tier 2</a:t>
            </a:r>
            <a:endParaRPr/>
          </a:p>
        </p:txBody>
      </p:sp>
      <p:sp>
        <p:nvSpPr>
          <p:cNvPr id="535" name="Google Shape;535;p28"/>
          <p:cNvSpPr txBox="1"/>
          <p:nvPr/>
        </p:nvSpPr>
        <p:spPr>
          <a:xfrm>
            <a:off x="8147304" y="1975104"/>
            <a:ext cx="363931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EF1FB"/>
                </a:solidFill>
                <a:latin typeface="Calibri"/>
                <a:ea typeface="Calibri"/>
                <a:cs typeface="Calibri"/>
                <a:sym typeface="Calibri"/>
              </a:rPr>
              <a:t>Optional</a:t>
            </a:r>
            <a:endParaRPr/>
          </a:p>
        </p:txBody>
      </p:sp>
      <p:sp>
        <p:nvSpPr>
          <p:cNvPr id="536" name="Google Shape;536;p28"/>
          <p:cNvSpPr txBox="1"/>
          <p:nvPr/>
        </p:nvSpPr>
        <p:spPr>
          <a:xfrm>
            <a:off x="8421624" y="2560320"/>
            <a:ext cx="3136392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A4CC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Semi-empirical (xTB) cross-check on top-k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A4CC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Flags large model-vs-reference disagreement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A4CC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Calibration validity flag on the result</a:t>
            </a:r>
            <a:endParaRPr/>
          </a:p>
        </p:txBody>
      </p:sp>
      <p:sp>
        <p:nvSpPr>
          <p:cNvPr id="537" name="Google Shape;537;p28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Discipline throughout:  </a:t>
            </a: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foundation-model barriers are treated as lower bounds, and every energetics value carries a predicted-vs-reference delta — never hidden.</a:t>
            </a:r>
            <a:endParaRPr/>
          </a:p>
        </p:txBody>
      </p:sp>
      <p:sp>
        <p:nvSpPr>
          <p:cNvPr id="538" name="Google Shape;538;p28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539" name="Google Shape;53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29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9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9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THE APPROACH</a:t>
            </a:r>
            <a:endParaRPr/>
          </a:p>
        </p:txBody>
      </p:sp>
      <p:sp>
        <p:nvSpPr>
          <p:cNvPr id="547" name="Google Shape;547;p29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4 — the co-scientist authors its own paper</a:t>
            </a:r>
            <a:endParaRPr/>
          </a:p>
        </p:txBody>
      </p:sp>
      <p:sp>
        <p:nvSpPr>
          <p:cNvPr id="548" name="Google Shape;548;p29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sp>
        <p:nvSpPr>
          <p:cNvPr id="549" name="Google Shape;549;p29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29"/>
          <p:cNvSpPr txBox="1"/>
          <p:nvPr/>
        </p:nvSpPr>
        <p:spPr>
          <a:xfrm>
            <a:off x="502920" y="1417320"/>
            <a:ext cx="56235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Section-writer swarm.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One agent per section (abstract, intro, methods, results, discussion, limitations, conclusion) fans out in parallel.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No invented numbers.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Every quantitative statement is grounded in the run artifacts; missing values are written as “not recorded,” never guessed.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Real bibliography.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Citations come from the literature mined in Layer 1 — actual DOIs, not model-generated references.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Campaign-aware.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With the screening funnel, the paper presents the whole campaign (comparison table + ranked figure) then the winner deep-dive.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Deterministic fallback.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Offline mode writes the full paper without a key, so the manuscript is always reproducible.</a:t>
            </a:r>
            <a:endParaRPr/>
          </a:p>
        </p:txBody>
      </p:sp>
      <p:sp>
        <p:nvSpPr>
          <p:cNvPr id="551" name="Google Shape;551;p29"/>
          <p:cNvSpPr/>
          <p:nvPr/>
        </p:nvSpPr>
        <p:spPr>
          <a:xfrm>
            <a:off x="6355080" y="1417320"/>
            <a:ext cx="5349240" cy="420624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9"/>
          <p:cNvSpPr txBox="1"/>
          <p:nvPr/>
        </p:nvSpPr>
        <p:spPr>
          <a:xfrm>
            <a:off x="6583680" y="157276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Generated manuscript sections</a:t>
            </a:r>
            <a:endParaRPr/>
          </a:p>
        </p:txBody>
      </p:sp>
      <p:sp>
        <p:nvSpPr>
          <p:cNvPr id="553" name="Google Shape;553;p29"/>
          <p:cNvSpPr/>
          <p:nvPr/>
        </p:nvSpPr>
        <p:spPr>
          <a:xfrm>
            <a:off x="6583680" y="2011680"/>
            <a:ext cx="2377440" cy="548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9"/>
          <p:cNvSpPr/>
          <p:nvPr/>
        </p:nvSpPr>
        <p:spPr>
          <a:xfrm>
            <a:off x="6583680" y="2011680"/>
            <a:ext cx="64008" cy="548640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29"/>
          <p:cNvSpPr txBox="1"/>
          <p:nvPr/>
        </p:nvSpPr>
        <p:spPr>
          <a:xfrm>
            <a:off x="6766560" y="2011680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Abstract</a:t>
            </a:r>
            <a:endParaRPr/>
          </a:p>
        </p:txBody>
      </p:sp>
      <p:sp>
        <p:nvSpPr>
          <p:cNvPr id="556" name="Google Shape;556;p29"/>
          <p:cNvSpPr/>
          <p:nvPr/>
        </p:nvSpPr>
        <p:spPr>
          <a:xfrm>
            <a:off x="9098280" y="2011680"/>
            <a:ext cx="2377440" cy="548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9"/>
          <p:cNvSpPr/>
          <p:nvPr/>
        </p:nvSpPr>
        <p:spPr>
          <a:xfrm>
            <a:off x="9098280" y="2011680"/>
            <a:ext cx="64008" cy="54864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9"/>
          <p:cNvSpPr txBox="1"/>
          <p:nvPr/>
        </p:nvSpPr>
        <p:spPr>
          <a:xfrm>
            <a:off x="9281160" y="2011680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/>
          </a:p>
        </p:txBody>
      </p:sp>
      <p:sp>
        <p:nvSpPr>
          <p:cNvPr id="559" name="Google Shape;559;p29"/>
          <p:cNvSpPr/>
          <p:nvPr/>
        </p:nvSpPr>
        <p:spPr>
          <a:xfrm>
            <a:off x="6583680" y="2670048"/>
            <a:ext cx="2377440" cy="548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9"/>
          <p:cNvSpPr/>
          <p:nvPr/>
        </p:nvSpPr>
        <p:spPr>
          <a:xfrm>
            <a:off x="6583680" y="2670048"/>
            <a:ext cx="64008" cy="54864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29"/>
          <p:cNvSpPr txBox="1"/>
          <p:nvPr/>
        </p:nvSpPr>
        <p:spPr>
          <a:xfrm>
            <a:off x="6766560" y="2670048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System architecture</a:t>
            </a:r>
            <a:endParaRPr/>
          </a:p>
        </p:txBody>
      </p:sp>
      <p:sp>
        <p:nvSpPr>
          <p:cNvPr id="562" name="Google Shape;562;p29"/>
          <p:cNvSpPr/>
          <p:nvPr/>
        </p:nvSpPr>
        <p:spPr>
          <a:xfrm>
            <a:off x="9098280" y="2670048"/>
            <a:ext cx="2377440" cy="548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9"/>
          <p:cNvSpPr/>
          <p:nvPr/>
        </p:nvSpPr>
        <p:spPr>
          <a:xfrm>
            <a:off x="9098280" y="2670048"/>
            <a:ext cx="64008" cy="548640"/>
          </a:xfrm>
          <a:prstGeom prst="rect">
            <a:avLst/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9"/>
          <p:cNvSpPr txBox="1"/>
          <p:nvPr/>
        </p:nvSpPr>
        <p:spPr>
          <a:xfrm>
            <a:off x="9281160" y="2670048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Methods: surfaces</a:t>
            </a:r>
            <a:endParaRPr/>
          </a:p>
        </p:txBody>
      </p:sp>
      <p:sp>
        <p:nvSpPr>
          <p:cNvPr id="565" name="Google Shape;565;p29"/>
          <p:cNvSpPr/>
          <p:nvPr/>
        </p:nvSpPr>
        <p:spPr>
          <a:xfrm>
            <a:off x="6583680" y="3328416"/>
            <a:ext cx="2377440" cy="548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9"/>
          <p:cNvSpPr/>
          <p:nvPr/>
        </p:nvSpPr>
        <p:spPr>
          <a:xfrm>
            <a:off x="6583680" y="3328416"/>
            <a:ext cx="64008" cy="548640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9"/>
          <p:cNvSpPr txBox="1"/>
          <p:nvPr/>
        </p:nvSpPr>
        <p:spPr>
          <a:xfrm>
            <a:off x="6766560" y="3328416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Methods: selection</a:t>
            </a:r>
            <a:endParaRPr/>
          </a:p>
        </p:txBody>
      </p:sp>
      <p:sp>
        <p:nvSpPr>
          <p:cNvPr id="568" name="Google Shape;568;p29"/>
          <p:cNvSpPr/>
          <p:nvPr/>
        </p:nvSpPr>
        <p:spPr>
          <a:xfrm>
            <a:off x="9098280" y="3328416"/>
            <a:ext cx="2377440" cy="548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29"/>
          <p:cNvSpPr/>
          <p:nvPr/>
        </p:nvSpPr>
        <p:spPr>
          <a:xfrm>
            <a:off x="9098280" y="3328416"/>
            <a:ext cx="64008" cy="54864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9"/>
          <p:cNvSpPr txBox="1"/>
          <p:nvPr/>
        </p:nvSpPr>
        <p:spPr>
          <a:xfrm>
            <a:off x="9281160" y="3328416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Methods: protocol</a:t>
            </a:r>
            <a:endParaRPr/>
          </a:p>
        </p:txBody>
      </p:sp>
      <p:sp>
        <p:nvSpPr>
          <p:cNvPr id="571" name="Google Shape;571;p29"/>
          <p:cNvSpPr/>
          <p:nvPr/>
        </p:nvSpPr>
        <p:spPr>
          <a:xfrm>
            <a:off x="6583680" y="3986784"/>
            <a:ext cx="2377440" cy="548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9"/>
          <p:cNvSpPr/>
          <p:nvPr/>
        </p:nvSpPr>
        <p:spPr>
          <a:xfrm>
            <a:off x="6583680" y="3986784"/>
            <a:ext cx="64008" cy="54864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9"/>
          <p:cNvSpPr txBox="1"/>
          <p:nvPr/>
        </p:nvSpPr>
        <p:spPr>
          <a:xfrm>
            <a:off x="6766560" y="3986784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Results + screening table</a:t>
            </a:r>
            <a:endParaRPr/>
          </a:p>
        </p:txBody>
      </p:sp>
      <p:sp>
        <p:nvSpPr>
          <p:cNvPr id="574" name="Google Shape;574;p29"/>
          <p:cNvSpPr/>
          <p:nvPr/>
        </p:nvSpPr>
        <p:spPr>
          <a:xfrm>
            <a:off x="9098280" y="3986784"/>
            <a:ext cx="2377440" cy="548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9"/>
          <p:cNvSpPr/>
          <p:nvPr/>
        </p:nvSpPr>
        <p:spPr>
          <a:xfrm>
            <a:off x="9098280" y="3986784"/>
            <a:ext cx="64008" cy="548640"/>
          </a:xfrm>
          <a:prstGeom prst="rect">
            <a:avLst/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9"/>
          <p:cNvSpPr txBox="1"/>
          <p:nvPr/>
        </p:nvSpPr>
        <p:spPr>
          <a:xfrm>
            <a:off x="9281160" y="3986784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Discussion</a:t>
            </a:r>
            <a:endParaRPr/>
          </a:p>
        </p:txBody>
      </p:sp>
      <p:sp>
        <p:nvSpPr>
          <p:cNvPr id="577" name="Google Shape;577;p29"/>
          <p:cNvSpPr/>
          <p:nvPr/>
        </p:nvSpPr>
        <p:spPr>
          <a:xfrm>
            <a:off x="6583680" y="4645152"/>
            <a:ext cx="2377440" cy="548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29"/>
          <p:cNvSpPr/>
          <p:nvPr/>
        </p:nvSpPr>
        <p:spPr>
          <a:xfrm>
            <a:off x="6583680" y="4645152"/>
            <a:ext cx="64008" cy="548640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9"/>
          <p:cNvSpPr txBox="1"/>
          <p:nvPr/>
        </p:nvSpPr>
        <p:spPr>
          <a:xfrm>
            <a:off x="6766560" y="4645152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/>
          </a:p>
        </p:txBody>
      </p:sp>
      <p:sp>
        <p:nvSpPr>
          <p:cNvPr id="580" name="Google Shape;580;p29"/>
          <p:cNvSpPr/>
          <p:nvPr/>
        </p:nvSpPr>
        <p:spPr>
          <a:xfrm>
            <a:off x="9098280" y="4645152"/>
            <a:ext cx="2377440" cy="548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29"/>
          <p:cNvSpPr/>
          <p:nvPr/>
        </p:nvSpPr>
        <p:spPr>
          <a:xfrm>
            <a:off x="9098280" y="4645152"/>
            <a:ext cx="64008" cy="54864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9"/>
          <p:cNvSpPr txBox="1"/>
          <p:nvPr/>
        </p:nvSpPr>
        <p:spPr>
          <a:xfrm>
            <a:off x="9281160" y="4645152"/>
            <a:ext cx="2148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Reproducibility</a:t>
            </a:r>
            <a:endParaRPr/>
          </a:p>
        </p:txBody>
      </p:sp>
      <p:sp>
        <p:nvSpPr>
          <p:cNvPr id="583" name="Google Shape;583;p29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584" name="Google Shape;58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3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30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30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RESULTS &amp; RIGOR</a:t>
            </a:r>
            <a:endParaRPr/>
          </a:p>
        </p:txBody>
      </p:sp>
      <p:sp>
        <p:nvSpPr>
          <p:cNvPr id="592" name="Google Shape;592;p30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Example screening campaign (illustrative run)</a:t>
            </a:r>
            <a:endParaRPr/>
          </a:p>
        </p:txBody>
      </p:sp>
      <p:sp>
        <p:nvSpPr>
          <p:cNvPr id="593" name="Google Shape;593;p30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594" name="Google Shape;594;p30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p30"/>
          <p:cNvSpPr txBox="1"/>
          <p:nvPr/>
        </p:nvSpPr>
        <p:spPr>
          <a:xfrm>
            <a:off x="502920" y="1280160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 12-candidate pool was screened on shared slabs; the best two were re-run at full fidelity and the recommendation agent selected the winner. </a:t>
            </a:r>
            <a:r>
              <a:rPr b="1" i="0" lang="en-US" sz="13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Numbers are a pipeline demonstration, not a quantitative claim.</a:t>
            </a:r>
            <a:endParaRPr/>
          </a:p>
        </p:txBody>
      </p:sp>
      <p:sp>
        <p:nvSpPr>
          <p:cNvPr id="596" name="Google Shape;596;p30"/>
          <p:cNvSpPr/>
          <p:nvPr/>
        </p:nvSpPr>
        <p:spPr>
          <a:xfrm>
            <a:off x="6126480" y="1874519"/>
            <a:ext cx="5577840" cy="402336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30"/>
          <p:cNvSpPr txBox="1"/>
          <p:nvPr/>
        </p:nvSpPr>
        <p:spPr>
          <a:xfrm>
            <a:off x="6355080" y="201168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Computed selectivity, ranked</a:t>
            </a:r>
            <a:endParaRPr/>
          </a:p>
        </p:txBody>
      </p:sp>
      <p:sp>
        <p:nvSpPr>
          <p:cNvPr id="598" name="Google Shape;598;p30"/>
          <p:cNvSpPr/>
          <p:nvPr/>
        </p:nvSpPr>
        <p:spPr>
          <a:xfrm>
            <a:off x="6355080" y="2468880"/>
            <a:ext cx="2514600" cy="512064"/>
          </a:xfrm>
          <a:prstGeom prst="rect">
            <a:avLst/>
          </a:prstGeom>
          <a:solidFill>
            <a:srgbClr val="2B1D5E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30"/>
          <p:cNvSpPr txBox="1"/>
          <p:nvPr/>
        </p:nvSpPr>
        <p:spPr>
          <a:xfrm>
            <a:off x="6446520" y="2468880"/>
            <a:ext cx="2377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Candidate</a:t>
            </a:r>
            <a:endParaRPr/>
          </a:p>
        </p:txBody>
      </p:sp>
      <p:sp>
        <p:nvSpPr>
          <p:cNvPr id="600" name="Google Shape;600;p30"/>
          <p:cNvSpPr/>
          <p:nvPr/>
        </p:nvSpPr>
        <p:spPr>
          <a:xfrm>
            <a:off x="8869680" y="2468880"/>
            <a:ext cx="960120" cy="512064"/>
          </a:xfrm>
          <a:prstGeom prst="rect">
            <a:avLst/>
          </a:prstGeom>
          <a:solidFill>
            <a:srgbClr val="2B1D5E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30"/>
          <p:cNvSpPr txBox="1"/>
          <p:nvPr/>
        </p:nvSpPr>
        <p:spPr>
          <a:xfrm>
            <a:off x="8961120" y="2468880"/>
            <a:ext cx="822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Stage</a:t>
            </a:r>
            <a:endParaRPr/>
          </a:p>
        </p:txBody>
      </p:sp>
      <p:sp>
        <p:nvSpPr>
          <p:cNvPr id="602" name="Google Shape;602;p30"/>
          <p:cNvSpPr/>
          <p:nvPr/>
        </p:nvSpPr>
        <p:spPr>
          <a:xfrm>
            <a:off x="9829800" y="2468880"/>
            <a:ext cx="777240" cy="512064"/>
          </a:xfrm>
          <a:prstGeom prst="rect">
            <a:avLst/>
          </a:prstGeom>
          <a:solidFill>
            <a:srgbClr val="2B1D5E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30"/>
          <p:cNvSpPr txBox="1"/>
          <p:nvPr/>
        </p:nvSpPr>
        <p:spPr>
          <a:xfrm>
            <a:off x="9921240" y="2468880"/>
            <a:ext cx="6400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endParaRPr/>
          </a:p>
        </p:txBody>
      </p:sp>
      <p:sp>
        <p:nvSpPr>
          <p:cNvPr id="604" name="Google Shape;604;p30"/>
          <p:cNvSpPr/>
          <p:nvPr/>
        </p:nvSpPr>
        <p:spPr>
          <a:xfrm>
            <a:off x="10561320" y="2468880"/>
            <a:ext cx="1143000" cy="512064"/>
          </a:xfrm>
          <a:prstGeom prst="rect">
            <a:avLst/>
          </a:prstGeom>
          <a:solidFill>
            <a:srgbClr val="2B1D5E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30"/>
          <p:cNvSpPr txBox="1"/>
          <p:nvPr/>
        </p:nvSpPr>
        <p:spPr>
          <a:xfrm>
            <a:off x="10652760" y="2468880"/>
            <a:ext cx="10058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Verdict</a:t>
            </a:r>
            <a:endParaRPr/>
          </a:p>
        </p:txBody>
      </p:sp>
      <p:sp>
        <p:nvSpPr>
          <p:cNvPr id="606" name="Google Shape;606;p30"/>
          <p:cNvSpPr/>
          <p:nvPr/>
        </p:nvSpPr>
        <p:spPr>
          <a:xfrm>
            <a:off x="6355080" y="2980944"/>
            <a:ext cx="2514600" cy="512064"/>
          </a:xfrm>
          <a:prstGeom prst="rect">
            <a:avLst/>
          </a:prstGeom>
          <a:solidFill>
            <a:srgbClr val="E7EAF6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30"/>
          <p:cNvSpPr txBox="1"/>
          <p:nvPr/>
        </p:nvSpPr>
        <p:spPr>
          <a:xfrm>
            <a:off x="6446520" y="2980944"/>
            <a:ext cx="2377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acetic acid  ★</a:t>
            </a:r>
            <a:endParaRPr/>
          </a:p>
        </p:txBody>
      </p:sp>
      <p:sp>
        <p:nvSpPr>
          <p:cNvPr id="608" name="Google Shape;608;p30"/>
          <p:cNvSpPr/>
          <p:nvPr/>
        </p:nvSpPr>
        <p:spPr>
          <a:xfrm>
            <a:off x="8869680" y="2980944"/>
            <a:ext cx="960120" cy="512064"/>
          </a:xfrm>
          <a:prstGeom prst="rect">
            <a:avLst/>
          </a:prstGeom>
          <a:solidFill>
            <a:srgbClr val="E7EAF6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30"/>
          <p:cNvSpPr txBox="1"/>
          <p:nvPr/>
        </p:nvSpPr>
        <p:spPr>
          <a:xfrm>
            <a:off x="8961120" y="2980944"/>
            <a:ext cx="822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full</a:t>
            </a:r>
            <a:endParaRPr/>
          </a:p>
        </p:txBody>
      </p:sp>
      <p:sp>
        <p:nvSpPr>
          <p:cNvPr id="610" name="Google Shape;610;p30"/>
          <p:cNvSpPr/>
          <p:nvPr/>
        </p:nvSpPr>
        <p:spPr>
          <a:xfrm>
            <a:off x="9829800" y="2980944"/>
            <a:ext cx="777240" cy="512064"/>
          </a:xfrm>
          <a:prstGeom prst="rect">
            <a:avLst/>
          </a:prstGeom>
          <a:solidFill>
            <a:srgbClr val="E7EAF6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30"/>
          <p:cNvSpPr txBox="1"/>
          <p:nvPr/>
        </p:nvSpPr>
        <p:spPr>
          <a:xfrm>
            <a:off x="9921240" y="2980944"/>
            <a:ext cx="6400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0.923</a:t>
            </a:r>
            <a:endParaRPr/>
          </a:p>
        </p:txBody>
      </p:sp>
      <p:sp>
        <p:nvSpPr>
          <p:cNvPr id="612" name="Google Shape;612;p30"/>
          <p:cNvSpPr/>
          <p:nvPr/>
        </p:nvSpPr>
        <p:spPr>
          <a:xfrm>
            <a:off x="10561320" y="2980944"/>
            <a:ext cx="1143000" cy="512064"/>
          </a:xfrm>
          <a:prstGeom prst="rect">
            <a:avLst/>
          </a:prstGeom>
          <a:solidFill>
            <a:srgbClr val="E7EAF6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30"/>
          <p:cNvSpPr txBox="1"/>
          <p:nvPr/>
        </p:nvSpPr>
        <p:spPr>
          <a:xfrm>
            <a:off x="10652760" y="2980944"/>
            <a:ext cx="10058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3CA055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/>
          </a:p>
        </p:txBody>
      </p:sp>
      <p:sp>
        <p:nvSpPr>
          <p:cNvPr id="614" name="Google Shape;614;p30"/>
          <p:cNvSpPr/>
          <p:nvPr/>
        </p:nvSpPr>
        <p:spPr>
          <a:xfrm>
            <a:off x="6355080" y="3493008"/>
            <a:ext cx="251460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30"/>
          <p:cNvSpPr txBox="1"/>
          <p:nvPr/>
        </p:nvSpPr>
        <p:spPr>
          <a:xfrm>
            <a:off x="6446520" y="3493008"/>
            <a:ext cx="2377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pivalic acid</a:t>
            </a:r>
            <a:endParaRPr/>
          </a:p>
        </p:txBody>
      </p:sp>
      <p:sp>
        <p:nvSpPr>
          <p:cNvPr id="616" name="Google Shape;616;p30"/>
          <p:cNvSpPr/>
          <p:nvPr/>
        </p:nvSpPr>
        <p:spPr>
          <a:xfrm>
            <a:off x="8869680" y="3493008"/>
            <a:ext cx="96012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30"/>
          <p:cNvSpPr txBox="1"/>
          <p:nvPr/>
        </p:nvSpPr>
        <p:spPr>
          <a:xfrm>
            <a:off x="8961120" y="3493008"/>
            <a:ext cx="822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batch</a:t>
            </a:r>
            <a:endParaRPr/>
          </a:p>
        </p:txBody>
      </p:sp>
      <p:sp>
        <p:nvSpPr>
          <p:cNvPr id="618" name="Google Shape;618;p30"/>
          <p:cNvSpPr/>
          <p:nvPr/>
        </p:nvSpPr>
        <p:spPr>
          <a:xfrm>
            <a:off x="9829800" y="3493008"/>
            <a:ext cx="77724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30"/>
          <p:cNvSpPr txBox="1"/>
          <p:nvPr/>
        </p:nvSpPr>
        <p:spPr>
          <a:xfrm>
            <a:off x="9921240" y="3493008"/>
            <a:ext cx="6400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0.923</a:t>
            </a:r>
            <a:endParaRPr/>
          </a:p>
        </p:txBody>
      </p:sp>
      <p:sp>
        <p:nvSpPr>
          <p:cNvPr id="620" name="Google Shape;620;p30"/>
          <p:cNvSpPr/>
          <p:nvPr/>
        </p:nvSpPr>
        <p:spPr>
          <a:xfrm>
            <a:off x="10561320" y="3493008"/>
            <a:ext cx="114300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30"/>
          <p:cNvSpPr txBox="1"/>
          <p:nvPr/>
        </p:nvSpPr>
        <p:spPr>
          <a:xfrm>
            <a:off x="10652760" y="3493008"/>
            <a:ext cx="10058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CA055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/>
          </a:p>
        </p:txBody>
      </p:sp>
      <p:sp>
        <p:nvSpPr>
          <p:cNvPr id="622" name="Google Shape;622;p30"/>
          <p:cNvSpPr/>
          <p:nvPr/>
        </p:nvSpPr>
        <p:spPr>
          <a:xfrm>
            <a:off x="6355080" y="4005072"/>
            <a:ext cx="251460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30"/>
          <p:cNvSpPr txBox="1"/>
          <p:nvPr/>
        </p:nvSpPr>
        <p:spPr>
          <a:xfrm>
            <a:off x="6446520" y="4005072"/>
            <a:ext cx="2377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methanesulfonic acid</a:t>
            </a:r>
            <a:endParaRPr/>
          </a:p>
        </p:txBody>
      </p:sp>
      <p:sp>
        <p:nvSpPr>
          <p:cNvPr id="624" name="Google Shape;624;p30"/>
          <p:cNvSpPr/>
          <p:nvPr/>
        </p:nvSpPr>
        <p:spPr>
          <a:xfrm>
            <a:off x="8869680" y="4005072"/>
            <a:ext cx="96012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30"/>
          <p:cNvSpPr txBox="1"/>
          <p:nvPr/>
        </p:nvSpPr>
        <p:spPr>
          <a:xfrm>
            <a:off x="8961120" y="4005072"/>
            <a:ext cx="822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full</a:t>
            </a:r>
            <a:endParaRPr/>
          </a:p>
        </p:txBody>
      </p:sp>
      <p:sp>
        <p:nvSpPr>
          <p:cNvPr id="626" name="Google Shape;626;p30"/>
          <p:cNvSpPr/>
          <p:nvPr/>
        </p:nvSpPr>
        <p:spPr>
          <a:xfrm>
            <a:off x="9829800" y="4005072"/>
            <a:ext cx="77724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30"/>
          <p:cNvSpPr txBox="1"/>
          <p:nvPr/>
        </p:nvSpPr>
        <p:spPr>
          <a:xfrm>
            <a:off x="9921240" y="4005072"/>
            <a:ext cx="6400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0.923</a:t>
            </a:r>
            <a:endParaRPr/>
          </a:p>
        </p:txBody>
      </p:sp>
      <p:sp>
        <p:nvSpPr>
          <p:cNvPr id="628" name="Google Shape;628;p30"/>
          <p:cNvSpPr/>
          <p:nvPr/>
        </p:nvSpPr>
        <p:spPr>
          <a:xfrm>
            <a:off x="10561320" y="4005072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30"/>
          <p:cNvSpPr txBox="1"/>
          <p:nvPr/>
        </p:nvSpPr>
        <p:spPr>
          <a:xfrm>
            <a:off x="10652760" y="4005072"/>
            <a:ext cx="10058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CA055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/>
          </a:p>
        </p:txBody>
      </p:sp>
      <p:sp>
        <p:nvSpPr>
          <p:cNvPr id="630" name="Google Shape;630;p30"/>
          <p:cNvSpPr/>
          <p:nvPr/>
        </p:nvSpPr>
        <p:spPr>
          <a:xfrm>
            <a:off x="6355080" y="4517136"/>
            <a:ext cx="251460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30"/>
          <p:cNvSpPr txBox="1"/>
          <p:nvPr/>
        </p:nvSpPr>
        <p:spPr>
          <a:xfrm>
            <a:off x="6446520" y="4517136"/>
            <a:ext cx="2377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ets</a:t>
            </a:r>
            <a:endParaRPr/>
          </a:p>
        </p:txBody>
      </p:sp>
      <p:sp>
        <p:nvSpPr>
          <p:cNvPr id="632" name="Google Shape;632;p30"/>
          <p:cNvSpPr/>
          <p:nvPr/>
        </p:nvSpPr>
        <p:spPr>
          <a:xfrm>
            <a:off x="8869680" y="4517136"/>
            <a:ext cx="96012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30"/>
          <p:cNvSpPr txBox="1"/>
          <p:nvPr/>
        </p:nvSpPr>
        <p:spPr>
          <a:xfrm>
            <a:off x="8961120" y="4517136"/>
            <a:ext cx="822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batch</a:t>
            </a:r>
            <a:endParaRPr/>
          </a:p>
        </p:txBody>
      </p:sp>
      <p:sp>
        <p:nvSpPr>
          <p:cNvPr id="634" name="Google Shape;634;p30"/>
          <p:cNvSpPr/>
          <p:nvPr/>
        </p:nvSpPr>
        <p:spPr>
          <a:xfrm>
            <a:off x="9829800" y="4517136"/>
            <a:ext cx="77724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30"/>
          <p:cNvSpPr txBox="1"/>
          <p:nvPr/>
        </p:nvSpPr>
        <p:spPr>
          <a:xfrm>
            <a:off x="9921240" y="4517136"/>
            <a:ext cx="6400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0.656</a:t>
            </a:r>
            <a:endParaRPr/>
          </a:p>
        </p:txBody>
      </p:sp>
      <p:sp>
        <p:nvSpPr>
          <p:cNvPr id="636" name="Google Shape;636;p30"/>
          <p:cNvSpPr/>
          <p:nvPr/>
        </p:nvSpPr>
        <p:spPr>
          <a:xfrm>
            <a:off x="10561320" y="4517136"/>
            <a:ext cx="1143000" cy="512064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30"/>
          <p:cNvSpPr txBox="1"/>
          <p:nvPr/>
        </p:nvSpPr>
        <p:spPr>
          <a:xfrm>
            <a:off x="10652760" y="4517136"/>
            <a:ext cx="10058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62C2C"/>
                </a:solidFill>
                <a:latin typeface="Calibri"/>
                <a:ea typeface="Calibri"/>
                <a:cs typeface="Calibri"/>
                <a:sym typeface="Calibri"/>
              </a:rPr>
              <a:t>rejected</a:t>
            </a:r>
            <a:endParaRPr/>
          </a:p>
        </p:txBody>
      </p:sp>
      <p:sp>
        <p:nvSpPr>
          <p:cNvPr id="638" name="Google Shape;638;p30"/>
          <p:cNvSpPr/>
          <p:nvPr/>
        </p:nvSpPr>
        <p:spPr>
          <a:xfrm>
            <a:off x="6355080" y="5029200"/>
            <a:ext cx="251460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30"/>
          <p:cNvSpPr txBox="1"/>
          <p:nvPr/>
        </p:nvSpPr>
        <p:spPr>
          <a:xfrm>
            <a:off x="6446520" y="5029200"/>
            <a:ext cx="23774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aniline (committed)</a:t>
            </a:r>
            <a:endParaRPr/>
          </a:p>
        </p:txBody>
      </p:sp>
      <p:sp>
        <p:nvSpPr>
          <p:cNvPr id="640" name="Google Shape;640;p30"/>
          <p:cNvSpPr/>
          <p:nvPr/>
        </p:nvSpPr>
        <p:spPr>
          <a:xfrm>
            <a:off x="8869680" y="5029200"/>
            <a:ext cx="96012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30"/>
          <p:cNvSpPr txBox="1"/>
          <p:nvPr/>
        </p:nvSpPr>
        <p:spPr>
          <a:xfrm>
            <a:off x="8961120" y="5029200"/>
            <a:ext cx="82296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batch</a:t>
            </a:r>
            <a:endParaRPr/>
          </a:p>
        </p:txBody>
      </p:sp>
      <p:sp>
        <p:nvSpPr>
          <p:cNvPr id="642" name="Google Shape;642;p30"/>
          <p:cNvSpPr/>
          <p:nvPr/>
        </p:nvSpPr>
        <p:spPr>
          <a:xfrm>
            <a:off x="9829800" y="5029200"/>
            <a:ext cx="77724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30"/>
          <p:cNvSpPr txBox="1"/>
          <p:nvPr/>
        </p:nvSpPr>
        <p:spPr>
          <a:xfrm>
            <a:off x="9921240" y="5029200"/>
            <a:ext cx="64008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0.229</a:t>
            </a:r>
            <a:endParaRPr/>
          </a:p>
        </p:txBody>
      </p:sp>
      <p:sp>
        <p:nvSpPr>
          <p:cNvPr id="644" name="Google Shape;644;p30"/>
          <p:cNvSpPr/>
          <p:nvPr/>
        </p:nvSpPr>
        <p:spPr>
          <a:xfrm>
            <a:off x="10561320" y="5029200"/>
            <a:ext cx="1143000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30"/>
          <p:cNvSpPr txBox="1"/>
          <p:nvPr/>
        </p:nvSpPr>
        <p:spPr>
          <a:xfrm>
            <a:off x="10652760" y="5029200"/>
            <a:ext cx="10058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D62C2C"/>
                </a:solidFill>
                <a:latin typeface="Calibri"/>
                <a:ea typeface="Calibri"/>
                <a:cs typeface="Calibri"/>
                <a:sym typeface="Calibri"/>
              </a:rPr>
              <a:t>rejected</a:t>
            </a:r>
            <a:endParaRPr/>
          </a:p>
        </p:txBody>
      </p:sp>
      <p:sp>
        <p:nvSpPr>
          <p:cNvPr id="646" name="Google Shape;646;p30"/>
          <p:cNvSpPr txBox="1"/>
          <p:nvPr/>
        </p:nvSpPr>
        <p:spPr>
          <a:xfrm>
            <a:off x="6355080" y="54864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Recommendation: </a:t>
            </a:r>
            <a:r>
              <a:rPr b="0" i="0" lang="en-US" sz="12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winner beats the committed molecule; the outcome is stated honestly.</a:t>
            </a:r>
            <a:endParaRPr/>
          </a:p>
        </p:txBody>
      </p:sp>
      <p:sp>
        <p:nvSpPr>
          <p:cNvPr id="647" name="Google Shape;647;p30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648" name="Google Shape;64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6172" y="2020800"/>
            <a:ext cx="5800299" cy="4234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3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3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31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RESULTS &amp; RIGOR</a:t>
            </a:r>
            <a:endParaRPr/>
          </a:p>
        </p:txBody>
      </p:sp>
      <p:sp>
        <p:nvSpPr>
          <p:cNvPr id="657" name="Google Shape;657;p31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Reproducibility &amp; provenance</a:t>
            </a:r>
            <a:endParaRPr/>
          </a:p>
        </p:txBody>
      </p:sp>
      <p:sp>
        <p:nvSpPr>
          <p:cNvPr id="658" name="Google Shape;658;p31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  <p:sp>
        <p:nvSpPr>
          <p:cNvPr id="659" name="Google Shape;659;p31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31"/>
          <p:cNvSpPr txBox="1"/>
          <p:nvPr/>
        </p:nvSpPr>
        <p:spPr>
          <a:xfrm>
            <a:off x="502920" y="1417320"/>
            <a:ext cx="56235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Everything is pinned.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Random seeds, compute tier, model/device/dtype, slab source and supercell, temperature, dose time, ensemble size, package versions — all logged.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Artifacts per run.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Structured JSON for the plan, per-candidate results, surface fidelity, the screening campaign, and the recommendation.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Knowledge-graph linkage.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Results link back into the graph so every claim resolves to a logged computation and every prior to a source.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Containerized. </a:t>
            </a:r>
            <a:r>
              <a:rPr b="0" i="0" lang="en-US" sz="14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 Docker image + locked environment reproduce the funnel end-to-end; a judge can re-run and recover the numbers.</a:t>
            </a:r>
            <a:endParaRPr/>
          </a:p>
        </p:txBody>
      </p:sp>
      <p:sp>
        <p:nvSpPr>
          <p:cNvPr id="661" name="Google Shape;661;p31"/>
          <p:cNvSpPr/>
          <p:nvPr/>
        </p:nvSpPr>
        <p:spPr>
          <a:xfrm>
            <a:off x="6355080" y="1417320"/>
            <a:ext cx="5349240" cy="420624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31"/>
          <p:cNvSpPr txBox="1"/>
          <p:nvPr/>
        </p:nvSpPr>
        <p:spPr>
          <a:xfrm>
            <a:off x="6583680" y="157276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Key run artifacts</a:t>
            </a:r>
            <a:endParaRPr/>
          </a:p>
        </p:txBody>
      </p:sp>
      <p:sp>
        <p:nvSpPr>
          <p:cNvPr id="663" name="Google Shape;663;p31"/>
          <p:cNvSpPr/>
          <p:nvPr/>
        </p:nvSpPr>
        <p:spPr>
          <a:xfrm>
            <a:off x="6583680" y="2057400"/>
            <a:ext cx="4892040" cy="457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31"/>
          <p:cNvSpPr/>
          <p:nvPr/>
        </p:nvSpPr>
        <p:spPr>
          <a:xfrm>
            <a:off x="6583680" y="2057400"/>
            <a:ext cx="64008" cy="45720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31"/>
          <p:cNvSpPr txBox="1"/>
          <p:nvPr/>
        </p:nvSpPr>
        <p:spPr>
          <a:xfrm>
            <a:off x="6812280" y="2057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official_hypothesis.json</a:t>
            </a:r>
            <a:endParaRPr/>
          </a:p>
        </p:txBody>
      </p:sp>
      <p:sp>
        <p:nvSpPr>
          <p:cNvPr id="666" name="Google Shape;666;p31"/>
          <p:cNvSpPr/>
          <p:nvPr/>
        </p:nvSpPr>
        <p:spPr>
          <a:xfrm>
            <a:off x="6583680" y="2578607"/>
            <a:ext cx="4892040" cy="457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31"/>
          <p:cNvSpPr/>
          <p:nvPr/>
        </p:nvSpPr>
        <p:spPr>
          <a:xfrm>
            <a:off x="6583680" y="2578607"/>
            <a:ext cx="64008" cy="45720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31"/>
          <p:cNvSpPr txBox="1"/>
          <p:nvPr/>
        </p:nvSpPr>
        <p:spPr>
          <a:xfrm>
            <a:off x="6812280" y="2578607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screening_results.json</a:t>
            </a:r>
            <a:endParaRPr/>
          </a:p>
        </p:txBody>
      </p:sp>
      <p:sp>
        <p:nvSpPr>
          <p:cNvPr id="669" name="Google Shape;669;p31"/>
          <p:cNvSpPr/>
          <p:nvPr/>
        </p:nvSpPr>
        <p:spPr>
          <a:xfrm>
            <a:off x="6583680" y="3099814"/>
            <a:ext cx="4892040" cy="457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31"/>
          <p:cNvSpPr/>
          <p:nvPr/>
        </p:nvSpPr>
        <p:spPr>
          <a:xfrm>
            <a:off x="6583680" y="3099814"/>
            <a:ext cx="64008" cy="45720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31"/>
          <p:cNvSpPr txBox="1"/>
          <p:nvPr/>
        </p:nvSpPr>
        <p:spPr>
          <a:xfrm>
            <a:off x="6812280" y="3099814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recommendation.json</a:t>
            </a:r>
            <a:endParaRPr/>
          </a:p>
        </p:txBody>
      </p:sp>
      <p:sp>
        <p:nvSpPr>
          <p:cNvPr id="672" name="Google Shape;672;p31"/>
          <p:cNvSpPr/>
          <p:nvPr/>
        </p:nvSpPr>
        <p:spPr>
          <a:xfrm>
            <a:off x="6583680" y="3621021"/>
            <a:ext cx="4892040" cy="457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31"/>
          <p:cNvSpPr/>
          <p:nvPr/>
        </p:nvSpPr>
        <p:spPr>
          <a:xfrm>
            <a:off x="6583680" y="3621021"/>
            <a:ext cx="64008" cy="45720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31"/>
          <p:cNvSpPr txBox="1"/>
          <p:nvPr/>
        </p:nvSpPr>
        <p:spPr>
          <a:xfrm>
            <a:off x="6812280" y="3621021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asald_results.json</a:t>
            </a:r>
            <a:endParaRPr/>
          </a:p>
        </p:txBody>
      </p:sp>
      <p:sp>
        <p:nvSpPr>
          <p:cNvPr id="675" name="Google Shape;675;p31"/>
          <p:cNvSpPr/>
          <p:nvPr/>
        </p:nvSpPr>
        <p:spPr>
          <a:xfrm>
            <a:off x="6583680" y="4142228"/>
            <a:ext cx="4892040" cy="457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31"/>
          <p:cNvSpPr/>
          <p:nvPr/>
        </p:nvSpPr>
        <p:spPr>
          <a:xfrm>
            <a:off x="6583680" y="4142228"/>
            <a:ext cx="64008" cy="45720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31"/>
          <p:cNvSpPr txBox="1"/>
          <p:nvPr/>
        </p:nvSpPr>
        <p:spPr>
          <a:xfrm>
            <a:off x="6812280" y="414222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surface_fidelity.json</a:t>
            </a:r>
            <a:endParaRPr/>
          </a:p>
        </p:txBody>
      </p:sp>
      <p:sp>
        <p:nvSpPr>
          <p:cNvPr id="678" name="Google Shape;678;p31"/>
          <p:cNvSpPr/>
          <p:nvPr/>
        </p:nvSpPr>
        <p:spPr>
          <a:xfrm>
            <a:off x="6583680" y="4663435"/>
            <a:ext cx="4892040" cy="457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31"/>
          <p:cNvSpPr/>
          <p:nvPr/>
        </p:nvSpPr>
        <p:spPr>
          <a:xfrm>
            <a:off x="6583680" y="4663435"/>
            <a:ext cx="64008" cy="45720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1"/>
          <p:cNvSpPr txBox="1"/>
          <p:nvPr/>
        </p:nvSpPr>
        <p:spPr>
          <a:xfrm>
            <a:off x="6812280" y="4663435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validation_results.json</a:t>
            </a:r>
            <a:endParaRPr/>
          </a:p>
        </p:txBody>
      </p:sp>
      <p:sp>
        <p:nvSpPr>
          <p:cNvPr id="681" name="Google Shape;681;p31"/>
          <p:cNvSpPr/>
          <p:nvPr/>
        </p:nvSpPr>
        <p:spPr>
          <a:xfrm>
            <a:off x="6583680" y="5184642"/>
            <a:ext cx="4892040" cy="457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87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31"/>
          <p:cNvSpPr/>
          <p:nvPr/>
        </p:nvSpPr>
        <p:spPr>
          <a:xfrm>
            <a:off x="6583680" y="5184642"/>
            <a:ext cx="64008" cy="45720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31"/>
          <p:cNvSpPr txBox="1"/>
          <p:nvPr/>
        </p:nvSpPr>
        <p:spPr>
          <a:xfrm>
            <a:off x="6812280" y="5184642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manuscript.tex / .pdf</a:t>
            </a:r>
            <a:endParaRPr/>
          </a:p>
        </p:txBody>
      </p:sp>
      <p:sp>
        <p:nvSpPr>
          <p:cNvPr id="684" name="Google Shape;684;p31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685" name="Google Shape;68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3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3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32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RESULTS &amp; RIGOR</a:t>
            </a:r>
            <a:endParaRPr/>
          </a:p>
        </p:txBody>
      </p:sp>
      <p:sp>
        <p:nvSpPr>
          <p:cNvPr id="693" name="Google Shape;693;p32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the system meets Challenge 4</a:t>
            </a:r>
            <a:endParaRPr/>
          </a:p>
        </p:txBody>
      </p:sp>
      <p:sp>
        <p:nvSpPr>
          <p:cNvPr id="694" name="Google Shape;694;p32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695" name="Google Shape;695;p32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32"/>
          <p:cNvSpPr/>
          <p:nvPr/>
        </p:nvSpPr>
        <p:spPr>
          <a:xfrm>
            <a:off x="502920" y="1417320"/>
            <a:ext cx="4617720" cy="548640"/>
          </a:xfrm>
          <a:prstGeom prst="rect">
            <a:avLst/>
          </a:prstGeom>
          <a:solidFill>
            <a:srgbClr val="2B1D5E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32"/>
          <p:cNvSpPr txBox="1"/>
          <p:nvPr/>
        </p:nvSpPr>
        <p:spPr>
          <a:xfrm>
            <a:off x="667512" y="1417320"/>
            <a:ext cx="4343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Challenge requirement</a:t>
            </a:r>
            <a:endParaRPr/>
          </a:p>
        </p:txBody>
      </p:sp>
      <p:sp>
        <p:nvSpPr>
          <p:cNvPr id="698" name="Google Shape;698;p32"/>
          <p:cNvSpPr/>
          <p:nvPr/>
        </p:nvSpPr>
        <p:spPr>
          <a:xfrm>
            <a:off x="5257800" y="1417320"/>
            <a:ext cx="6446520" cy="548640"/>
          </a:xfrm>
          <a:prstGeom prst="rect">
            <a:avLst/>
          </a:prstGeom>
          <a:solidFill>
            <a:srgbClr val="2B1D5E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32"/>
          <p:cNvSpPr txBox="1"/>
          <p:nvPr/>
        </p:nvSpPr>
        <p:spPr>
          <a:xfrm>
            <a:off x="5422392" y="1417320"/>
            <a:ext cx="6172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the co-scientist delivers it</a:t>
            </a:r>
            <a:endParaRPr/>
          </a:p>
        </p:txBody>
      </p:sp>
      <p:sp>
        <p:nvSpPr>
          <p:cNvPr id="700" name="Google Shape;700;p32"/>
          <p:cNvSpPr/>
          <p:nvPr/>
        </p:nvSpPr>
        <p:spPr>
          <a:xfrm>
            <a:off x="502920" y="1965960"/>
            <a:ext cx="4617720" cy="8412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32"/>
          <p:cNvSpPr txBox="1"/>
          <p:nvPr/>
        </p:nvSpPr>
        <p:spPr>
          <a:xfrm>
            <a:off x="667512" y="1965960"/>
            <a:ext cx="43434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Amorphous surface builder that better</a:t>
            </a:r>
            <a:b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reflects experimental surfaces</a:t>
            </a:r>
            <a:endParaRPr/>
          </a:p>
        </p:txBody>
      </p:sp>
      <p:sp>
        <p:nvSpPr>
          <p:cNvPr id="702" name="Google Shape;702;p32"/>
          <p:cNvSpPr/>
          <p:nvPr/>
        </p:nvSpPr>
        <p:spPr>
          <a:xfrm>
            <a:off x="5257800" y="1965960"/>
            <a:ext cx="6446520" cy="8412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32"/>
          <p:cNvSpPr txBox="1"/>
          <p:nvPr/>
        </p:nvSpPr>
        <p:spPr>
          <a:xfrm>
            <a:off x="5422392" y="1965960"/>
            <a:ext cx="61722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Site-density target + fidelity gate against measured bands; ensembles of slabs; no over-counted sites</a:t>
            </a:r>
            <a:endParaRPr/>
          </a:p>
        </p:txBody>
      </p:sp>
      <p:sp>
        <p:nvSpPr>
          <p:cNvPr id="704" name="Google Shape;704;p32"/>
          <p:cNvSpPr/>
          <p:nvPr/>
        </p:nvSpPr>
        <p:spPr>
          <a:xfrm>
            <a:off x="502920" y="2807208"/>
            <a:ext cx="4617720" cy="841248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32"/>
          <p:cNvSpPr txBox="1"/>
          <p:nvPr/>
        </p:nvSpPr>
        <p:spPr>
          <a:xfrm>
            <a:off x="667512" y="2807208"/>
            <a:ext cx="43434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Agentic inhibitor / precursor selection</a:t>
            </a:r>
            <a:endParaRPr/>
          </a:p>
        </p:txBody>
      </p:sp>
      <p:sp>
        <p:nvSpPr>
          <p:cNvPr id="706" name="Google Shape;706;p32"/>
          <p:cNvSpPr/>
          <p:nvPr/>
        </p:nvSpPr>
        <p:spPr>
          <a:xfrm>
            <a:off x="5257800" y="2807208"/>
            <a:ext cx="6446520" cy="841248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32"/>
          <p:cNvSpPr txBox="1"/>
          <p:nvPr/>
        </p:nvSpPr>
        <p:spPr>
          <a:xfrm>
            <a:off x="5422392" y="2807208"/>
            <a:ext cx="61722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ReAct selection agent + generative proposer, site-matched and steerable via a criteria file</a:t>
            </a:r>
            <a:endParaRPr/>
          </a:p>
        </p:txBody>
      </p:sp>
      <p:sp>
        <p:nvSpPr>
          <p:cNvPr id="708" name="Google Shape;708;p32"/>
          <p:cNvSpPr/>
          <p:nvPr/>
        </p:nvSpPr>
        <p:spPr>
          <a:xfrm>
            <a:off x="502920" y="3648456"/>
            <a:ext cx="4617720" cy="8412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2"/>
          <p:cNvSpPr txBox="1"/>
          <p:nvPr/>
        </p:nvSpPr>
        <p:spPr>
          <a:xfrm>
            <a:off x="667512" y="3648456"/>
            <a:ext cx="43434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90% selectivity at 10 nm oxide</a:t>
            </a:r>
            <a:endParaRPr/>
          </a:p>
        </p:txBody>
      </p:sp>
      <p:sp>
        <p:nvSpPr>
          <p:cNvPr id="710" name="Google Shape;710;p32"/>
          <p:cNvSpPr/>
          <p:nvPr/>
        </p:nvSpPr>
        <p:spPr>
          <a:xfrm>
            <a:off x="5257800" y="3648456"/>
            <a:ext cx="6446520" cy="8412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2"/>
          <p:cNvSpPr txBox="1"/>
          <p:nvPr/>
        </p:nvSpPr>
        <p:spPr>
          <a:xfrm>
            <a:off x="5422392" y="3648456"/>
            <a:ext cx="61722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Site-resolved blocking → nucleation delay → S(N) reported at 10 nm as mean ± std</a:t>
            </a:r>
            <a:endParaRPr/>
          </a:p>
        </p:txBody>
      </p:sp>
      <p:sp>
        <p:nvSpPr>
          <p:cNvPr id="712" name="Google Shape;712;p32"/>
          <p:cNvSpPr/>
          <p:nvPr/>
        </p:nvSpPr>
        <p:spPr>
          <a:xfrm>
            <a:off x="502920" y="4489704"/>
            <a:ext cx="4617720" cy="841248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32"/>
          <p:cNvSpPr txBox="1"/>
          <p:nvPr/>
        </p:nvSpPr>
        <p:spPr>
          <a:xfrm>
            <a:off x="667512" y="4489704"/>
            <a:ext cx="43434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In-silico testing with computed results</a:t>
            </a:r>
            <a:endParaRPr/>
          </a:p>
        </p:txBody>
      </p:sp>
      <p:sp>
        <p:nvSpPr>
          <p:cNvPr id="714" name="Google Shape;714;p32"/>
          <p:cNvSpPr/>
          <p:nvPr/>
        </p:nvSpPr>
        <p:spPr>
          <a:xfrm>
            <a:off x="5257800" y="4489704"/>
            <a:ext cx="6446520" cy="841248"/>
          </a:xfrm>
          <a:prstGeom prst="rect">
            <a:avLst/>
          </a:prstGeom>
          <a:solidFill>
            <a:srgbClr val="F1F3F9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32"/>
          <p:cNvSpPr txBox="1"/>
          <p:nvPr/>
        </p:nvSpPr>
        <p:spPr>
          <a:xfrm>
            <a:off x="5422392" y="4489704"/>
            <a:ext cx="61722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Five-step protocol emitting a full JSON record; batch campaign over 10–50 candidates</a:t>
            </a:r>
            <a:endParaRPr/>
          </a:p>
        </p:txBody>
      </p:sp>
      <p:sp>
        <p:nvSpPr>
          <p:cNvPr id="716" name="Google Shape;716;p32"/>
          <p:cNvSpPr/>
          <p:nvPr/>
        </p:nvSpPr>
        <p:spPr>
          <a:xfrm>
            <a:off x="502920" y="5330952"/>
            <a:ext cx="4617720" cy="8412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32"/>
          <p:cNvSpPr txBox="1"/>
          <p:nvPr/>
        </p:nvSpPr>
        <p:spPr>
          <a:xfrm>
            <a:off x="667512" y="5330952"/>
            <a:ext cx="43434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Reproducible, Python, easy to use</a:t>
            </a:r>
            <a:endParaRPr/>
          </a:p>
        </p:txBody>
      </p:sp>
      <p:sp>
        <p:nvSpPr>
          <p:cNvPr id="718" name="Google Shape;718;p32"/>
          <p:cNvSpPr/>
          <p:nvPr/>
        </p:nvSpPr>
        <p:spPr>
          <a:xfrm>
            <a:off x="5257800" y="5330952"/>
            <a:ext cx="6446520" cy="8412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7EA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32"/>
          <p:cNvSpPr txBox="1"/>
          <p:nvPr/>
        </p:nvSpPr>
        <p:spPr>
          <a:xfrm>
            <a:off x="5422392" y="5330952"/>
            <a:ext cx="617220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Pinned provenance, Docker, CLI + Gradio UI, deterministic offline mode</a:t>
            </a:r>
            <a:endParaRPr/>
          </a:p>
        </p:txBody>
      </p:sp>
      <p:sp>
        <p:nvSpPr>
          <p:cNvPr id="720" name="Google Shape;720;p32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721" name="Google Shape;72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p33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3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33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RESULTS &amp; RIGOR</a:t>
            </a:r>
            <a:endParaRPr/>
          </a:p>
        </p:txBody>
      </p:sp>
      <p:sp>
        <p:nvSpPr>
          <p:cNvPr id="729" name="Google Shape;729;p33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Technology &amp; agentic patterns</a:t>
            </a:r>
            <a:endParaRPr/>
          </a:p>
        </p:txBody>
      </p:sp>
      <p:sp>
        <p:nvSpPr>
          <p:cNvPr id="730" name="Google Shape;730;p33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731" name="Google Shape;731;p33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33"/>
          <p:cNvSpPr/>
          <p:nvPr/>
        </p:nvSpPr>
        <p:spPr>
          <a:xfrm>
            <a:off x="502920" y="1463040"/>
            <a:ext cx="2724912" cy="411480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33"/>
          <p:cNvSpPr/>
          <p:nvPr/>
        </p:nvSpPr>
        <p:spPr>
          <a:xfrm>
            <a:off x="502920" y="1463040"/>
            <a:ext cx="2724912" cy="640080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33"/>
          <p:cNvSpPr txBox="1"/>
          <p:nvPr/>
        </p:nvSpPr>
        <p:spPr>
          <a:xfrm>
            <a:off x="502920" y="1536192"/>
            <a:ext cx="27249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Orchestration</a:t>
            </a:r>
            <a:endParaRPr/>
          </a:p>
        </p:txBody>
      </p:sp>
      <p:sp>
        <p:nvSpPr>
          <p:cNvPr id="735" name="Google Shape;735;p33"/>
          <p:cNvSpPr txBox="1"/>
          <p:nvPr/>
        </p:nvSpPr>
        <p:spPr>
          <a:xfrm>
            <a:off x="731520" y="2331720"/>
            <a:ext cx="2313432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LangGraph state machines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Supervisor + Swarm · ReAct designer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Bounded Reflection loop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AI planner · generational proposer · melt-quench tuner</a:t>
            </a:r>
            <a:endParaRPr/>
          </a:p>
        </p:txBody>
      </p:sp>
      <p:sp>
        <p:nvSpPr>
          <p:cNvPr id="736" name="Google Shape;736;p33"/>
          <p:cNvSpPr/>
          <p:nvPr/>
        </p:nvSpPr>
        <p:spPr>
          <a:xfrm>
            <a:off x="3364992" y="1463040"/>
            <a:ext cx="2724912" cy="411480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33"/>
          <p:cNvSpPr/>
          <p:nvPr/>
        </p:nvSpPr>
        <p:spPr>
          <a:xfrm>
            <a:off x="3364992" y="1463040"/>
            <a:ext cx="2724912" cy="640080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3"/>
          <p:cNvSpPr txBox="1"/>
          <p:nvPr/>
        </p:nvSpPr>
        <p:spPr>
          <a:xfrm>
            <a:off x="3364992" y="1536192"/>
            <a:ext cx="27249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Atomistic engine</a:t>
            </a:r>
            <a:endParaRPr/>
          </a:p>
        </p:txBody>
      </p:sp>
      <p:sp>
        <p:nvSpPr>
          <p:cNvPr id="739" name="Google Shape;739;p33"/>
          <p:cNvSpPr txBox="1"/>
          <p:nvPr/>
        </p:nvSpPr>
        <p:spPr>
          <a:xfrm>
            <a:off x="3593592" y="2331720"/>
            <a:ext cx="2313432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ASE + foundation MLIP (MACE / CHGNet)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rdkit molecules · pymatgen slabs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Real MLIP melt-quench MD amorphization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xTB + D3 (torch-dftd) cross-check</a:t>
            </a:r>
            <a:endParaRPr/>
          </a:p>
        </p:txBody>
      </p:sp>
      <p:sp>
        <p:nvSpPr>
          <p:cNvPr id="740" name="Google Shape;740;p33"/>
          <p:cNvSpPr/>
          <p:nvPr/>
        </p:nvSpPr>
        <p:spPr>
          <a:xfrm>
            <a:off x="6227064" y="1463040"/>
            <a:ext cx="2724912" cy="411480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3"/>
          <p:cNvSpPr/>
          <p:nvPr/>
        </p:nvSpPr>
        <p:spPr>
          <a:xfrm>
            <a:off x="6227064" y="1463040"/>
            <a:ext cx="2724912" cy="640080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3"/>
          <p:cNvSpPr txBox="1"/>
          <p:nvPr/>
        </p:nvSpPr>
        <p:spPr>
          <a:xfrm>
            <a:off x="6227064" y="1536192"/>
            <a:ext cx="27249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&amp; models</a:t>
            </a:r>
            <a:endParaRPr/>
          </a:p>
        </p:txBody>
      </p:sp>
      <p:sp>
        <p:nvSpPr>
          <p:cNvPr id="743" name="Google Shape;743;p33"/>
          <p:cNvSpPr txBox="1"/>
          <p:nvPr/>
        </p:nvSpPr>
        <p:spPr>
          <a:xfrm>
            <a:off x="6455664" y="2331720"/>
            <a:ext cx="2313432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Typed knowledge graph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Pydantic schemas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Scholarly source clients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E6BE6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Provenance store</a:t>
            </a:r>
            <a:endParaRPr/>
          </a:p>
        </p:txBody>
      </p:sp>
      <p:sp>
        <p:nvSpPr>
          <p:cNvPr id="744" name="Google Shape;744;p33"/>
          <p:cNvSpPr/>
          <p:nvPr/>
        </p:nvSpPr>
        <p:spPr>
          <a:xfrm>
            <a:off x="9089136" y="1463040"/>
            <a:ext cx="2724912" cy="411480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3"/>
          <p:cNvSpPr/>
          <p:nvPr/>
        </p:nvSpPr>
        <p:spPr>
          <a:xfrm>
            <a:off x="9089136" y="1463040"/>
            <a:ext cx="2724912" cy="640080"/>
          </a:xfrm>
          <a:prstGeom prst="rect">
            <a:avLst/>
          </a:prstGeom>
          <a:solidFill>
            <a:srgbClr val="6A4C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3"/>
          <p:cNvSpPr txBox="1"/>
          <p:nvPr/>
        </p:nvSpPr>
        <p:spPr>
          <a:xfrm>
            <a:off x="9089136" y="1536192"/>
            <a:ext cx="27249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Delivery</a:t>
            </a:r>
            <a:endParaRPr/>
          </a:p>
        </p:txBody>
      </p:sp>
      <p:sp>
        <p:nvSpPr>
          <p:cNvPr id="747" name="Google Shape;747;p33"/>
          <p:cNvSpPr txBox="1"/>
          <p:nvPr/>
        </p:nvSpPr>
        <p:spPr>
          <a:xfrm>
            <a:off x="9317736" y="2331720"/>
            <a:ext cx="2313432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6A4CC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CLI (3 entry points)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6A4CC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Refresh-proof Gradio UI on Hugging Face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6A4CC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LaTeX manuscript stitcher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6A4CC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2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Docker + locked env · persistent storage</a:t>
            </a:r>
            <a:endParaRPr/>
          </a:p>
        </p:txBody>
      </p:sp>
      <p:sp>
        <p:nvSpPr>
          <p:cNvPr id="748" name="Google Shape;748;p33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749" name="Google Shape;749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34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34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34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WRAP-UP</a:t>
            </a:r>
            <a:endParaRPr/>
          </a:p>
        </p:txBody>
      </p:sp>
      <p:sp>
        <p:nvSpPr>
          <p:cNvPr id="757" name="Google Shape;757;p34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Summary</a:t>
            </a:r>
            <a:endParaRPr/>
          </a:p>
        </p:txBody>
      </p:sp>
      <p:sp>
        <p:nvSpPr>
          <p:cNvPr id="758" name="Google Shape;758;p34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  <p:sp>
        <p:nvSpPr>
          <p:cNvPr id="759" name="Google Shape;759;p34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0" name="Google Shape;760;p34"/>
          <p:cNvSpPr/>
          <p:nvPr/>
        </p:nvSpPr>
        <p:spPr>
          <a:xfrm>
            <a:off x="502920" y="1463040"/>
            <a:ext cx="11201400" cy="86868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34"/>
          <p:cNvSpPr/>
          <p:nvPr/>
        </p:nvSpPr>
        <p:spPr>
          <a:xfrm>
            <a:off x="685800" y="1682496"/>
            <a:ext cx="420624" cy="420624"/>
          </a:xfrm>
          <a:prstGeom prst="ellipse">
            <a:avLst/>
          </a:prstGeom>
          <a:solidFill>
            <a:srgbClr val="2B1D5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34"/>
          <p:cNvSpPr txBox="1"/>
          <p:nvPr/>
        </p:nvSpPr>
        <p:spPr>
          <a:xfrm>
            <a:off x="685800" y="168249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763" name="Google Shape;763;p34"/>
          <p:cNvSpPr txBox="1"/>
          <p:nvPr/>
        </p:nvSpPr>
        <p:spPr>
          <a:xfrm>
            <a:off x="1325880" y="1581912"/>
            <a:ext cx="10149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An end-to-end co-scientist.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Research idea → hypotheses → human commitment → batch in-silico screening → recommendation → reproducible paper.</a:t>
            </a:r>
            <a:endParaRPr/>
          </a:p>
        </p:txBody>
      </p:sp>
      <p:sp>
        <p:nvSpPr>
          <p:cNvPr id="764" name="Google Shape;764;p34"/>
          <p:cNvSpPr/>
          <p:nvPr/>
        </p:nvSpPr>
        <p:spPr>
          <a:xfrm>
            <a:off x="502920" y="2423160"/>
            <a:ext cx="11201400" cy="86868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34"/>
          <p:cNvSpPr/>
          <p:nvPr/>
        </p:nvSpPr>
        <p:spPr>
          <a:xfrm>
            <a:off x="685800" y="2642616"/>
            <a:ext cx="420624" cy="420624"/>
          </a:xfrm>
          <a:prstGeom prst="ellipse">
            <a:avLst/>
          </a:prstGeom>
          <a:solidFill>
            <a:srgbClr val="2E6BE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4"/>
          <p:cNvSpPr txBox="1"/>
          <p:nvPr/>
        </p:nvSpPr>
        <p:spPr>
          <a:xfrm>
            <a:off x="685800" y="264261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767" name="Google Shape;767;p34"/>
          <p:cNvSpPr txBox="1"/>
          <p:nvPr/>
        </p:nvSpPr>
        <p:spPr>
          <a:xfrm>
            <a:off x="1325880" y="2542032"/>
            <a:ext cx="10149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Both graded deliverables are first-class.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A fidelity-gated amorphous surface builder and an agentic, site-matched selection loop.</a:t>
            </a:r>
            <a:endParaRPr/>
          </a:p>
        </p:txBody>
      </p:sp>
      <p:sp>
        <p:nvSpPr>
          <p:cNvPr id="768" name="Google Shape;768;p34"/>
          <p:cNvSpPr/>
          <p:nvPr/>
        </p:nvSpPr>
        <p:spPr>
          <a:xfrm>
            <a:off x="502920" y="3383280"/>
            <a:ext cx="11201400" cy="86868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4"/>
          <p:cNvSpPr/>
          <p:nvPr/>
        </p:nvSpPr>
        <p:spPr>
          <a:xfrm>
            <a:off x="685800" y="3602736"/>
            <a:ext cx="420624" cy="420624"/>
          </a:xfrm>
          <a:prstGeom prst="ellipse">
            <a:avLst/>
          </a:prstGeom>
          <a:solidFill>
            <a:srgbClr val="17B0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34"/>
          <p:cNvSpPr txBox="1"/>
          <p:nvPr/>
        </p:nvSpPr>
        <p:spPr>
          <a:xfrm>
            <a:off x="685800" y="360273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771" name="Google Shape;771;p34"/>
          <p:cNvSpPr txBox="1"/>
          <p:nvPr/>
        </p:nvSpPr>
        <p:spPr>
          <a:xfrm>
            <a:off x="1325880" y="3502152"/>
            <a:ext cx="10149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The stated risk is the moat.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Surface-model fidelity dominates results, so the gate + ensembles + calibration flags are the centerpiece.</a:t>
            </a:r>
            <a:endParaRPr/>
          </a:p>
        </p:txBody>
      </p:sp>
      <p:sp>
        <p:nvSpPr>
          <p:cNvPr id="772" name="Google Shape;772;p34"/>
          <p:cNvSpPr/>
          <p:nvPr/>
        </p:nvSpPr>
        <p:spPr>
          <a:xfrm>
            <a:off x="502920" y="4343400"/>
            <a:ext cx="11201400" cy="86868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34"/>
          <p:cNvSpPr/>
          <p:nvPr/>
        </p:nvSpPr>
        <p:spPr>
          <a:xfrm>
            <a:off x="685800" y="4562856"/>
            <a:ext cx="420624" cy="420624"/>
          </a:xfrm>
          <a:prstGeom prst="ellipse">
            <a:avLst/>
          </a:prstGeom>
          <a:solidFill>
            <a:srgbClr val="6A4C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34"/>
          <p:cNvSpPr txBox="1"/>
          <p:nvPr/>
        </p:nvSpPr>
        <p:spPr>
          <a:xfrm>
            <a:off x="685800" y="45628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775" name="Google Shape;775;p34"/>
          <p:cNvSpPr txBox="1"/>
          <p:nvPr/>
        </p:nvSpPr>
        <p:spPr>
          <a:xfrm>
            <a:off x="1325880" y="4462272"/>
            <a:ext cx="10149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A real screening funnel.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10–50 candidates on shared slabs, honest competition, and a recommendation agent that can't override the physics.</a:t>
            </a:r>
            <a:endParaRPr/>
          </a:p>
        </p:txBody>
      </p:sp>
      <p:sp>
        <p:nvSpPr>
          <p:cNvPr id="776" name="Google Shape;776;p34"/>
          <p:cNvSpPr/>
          <p:nvPr/>
        </p:nvSpPr>
        <p:spPr>
          <a:xfrm>
            <a:off x="502920" y="5303520"/>
            <a:ext cx="11201400" cy="868680"/>
          </a:xfrm>
          <a:prstGeom prst="roundRect">
            <a:avLst>
              <a:gd fmla="val 16667" name="adj"/>
            </a:avLst>
          </a:prstGeom>
          <a:solidFill>
            <a:srgbClr val="F1F3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34"/>
          <p:cNvSpPr/>
          <p:nvPr/>
        </p:nvSpPr>
        <p:spPr>
          <a:xfrm>
            <a:off x="685800" y="5522976"/>
            <a:ext cx="420624" cy="420624"/>
          </a:xfrm>
          <a:prstGeom prst="ellipse">
            <a:avLst/>
          </a:prstGeom>
          <a:solidFill>
            <a:srgbClr val="2B1D5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34"/>
          <p:cNvSpPr txBox="1"/>
          <p:nvPr/>
        </p:nvSpPr>
        <p:spPr>
          <a:xfrm>
            <a:off x="685800" y="552297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779" name="Google Shape;779;p34"/>
          <p:cNvSpPr txBox="1"/>
          <p:nvPr/>
        </p:nvSpPr>
        <p:spPr>
          <a:xfrm>
            <a:off x="1325880" y="5422392"/>
            <a:ext cx="10149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B1D5E"/>
                </a:solidFill>
                <a:latin typeface="Calibri"/>
                <a:ea typeface="Calibri"/>
                <a:cs typeface="Calibri"/>
                <a:sym typeface="Calibri"/>
              </a:rPr>
              <a:t>Trustworthy by construction.  </a:t>
            </a:r>
            <a:r>
              <a:rPr b="0" i="0" lang="en-US" sz="130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Every number traces to a logged computation; every prior to a source; the whole run re-runs from pinned provenance.</a:t>
            </a:r>
            <a:endParaRPr/>
          </a:p>
        </p:txBody>
      </p:sp>
      <p:sp>
        <p:nvSpPr>
          <p:cNvPr id="780" name="Google Shape;780;p34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781" name="Google Shape;781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35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5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35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/>
          </a:p>
        </p:txBody>
      </p:sp>
      <p:sp>
        <p:nvSpPr>
          <p:cNvPr id="789" name="Google Shape;789;p35"/>
          <p:cNvSpPr txBox="1"/>
          <p:nvPr/>
        </p:nvSpPr>
        <p:spPr>
          <a:xfrm>
            <a:off x="502920" y="402336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Domain literature</a:t>
            </a:r>
            <a:endParaRPr/>
          </a:p>
        </p:txBody>
      </p:sp>
      <p:sp>
        <p:nvSpPr>
          <p:cNvPr id="790" name="Google Shape;790;p35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791" name="Google Shape;791;p35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2" name="Google Shape;792;p35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Literature and methods that ground the system (kept off the content slides by design).</a:t>
            </a:r>
            <a:endParaRPr/>
          </a:p>
        </p:txBody>
      </p:sp>
      <p:sp>
        <p:nvSpPr>
          <p:cNvPr id="793" name="Google Shape;793;p35"/>
          <p:cNvSpPr txBox="1"/>
          <p:nvPr/>
        </p:nvSpPr>
        <p:spPr>
          <a:xfrm>
            <a:off x="502920" y="17830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Kim, Kim, Hahm, Kwon, Park, Hong &amp; Han. A computational study for screening high-selectivity inhibitors in area-selective ALD on amorphous surfaces. Applied Surface Science 730 (2026) 166294. doi:10.1016/j.apsusc.2026.166294  — anchor methodology (slab protocol, site densities, ΔEr/Ea, screening).</a:t>
            </a:r>
            <a:endParaRPr/>
          </a:p>
        </p:txBody>
      </p:sp>
      <p:sp>
        <p:nvSpPr>
          <p:cNvPr id="794" name="Google Shape;794;p35"/>
          <p:cNvSpPr txBox="1"/>
          <p:nvPr/>
        </p:nvSpPr>
        <p:spPr>
          <a:xfrm>
            <a:off x="502920" y="22402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Parsons &amp; Clark. Area-selective deposition: fundamentals, applications, and future outlook. Chem. Mater. 2020. doi:10.1021/acs.chemmater.0c00722</a:t>
            </a:r>
            <a:endParaRPr/>
          </a:p>
        </p:txBody>
      </p:sp>
      <p:sp>
        <p:nvSpPr>
          <p:cNvPr id="795" name="Google Shape;795;p35"/>
          <p:cNvSpPr txBox="1"/>
          <p:nvPr/>
        </p:nvSpPr>
        <p:spPr>
          <a:xfrm>
            <a:off x="502920" y="26974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Mameli &amp; Teplyakov. Selection criteria for small-molecule inhibitors in area-selective ALD. Acc. Chem. Res. 2023. doi:10.1021/acs.accounts.3c00221</a:t>
            </a:r>
            <a:endParaRPr/>
          </a:p>
        </p:txBody>
      </p:sp>
      <p:sp>
        <p:nvSpPr>
          <p:cNvPr id="796" name="Google Shape;796;p35"/>
          <p:cNvSpPr txBox="1"/>
          <p:nvPr/>
        </p:nvSpPr>
        <p:spPr>
          <a:xfrm>
            <a:off x="502920" y="31546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Soethoudt et al. Selective surface reactions of dimethylamino-trimethylsilane for area-selective deposition. J. Phys. Chem. C 2020. doi:10.1021/acs.jpcc.9b11270</a:t>
            </a:r>
            <a:endParaRPr/>
          </a:p>
        </p:txBody>
      </p:sp>
      <p:sp>
        <p:nvSpPr>
          <p:cNvPr id="797" name="Google Shape;797;p35"/>
          <p:cNvSpPr txBox="1"/>
          <p:nvPr/>
        </p:nvSpPr>
        <p:spPr>
          <a:xfrm>
            <a:off x="502920" y="36118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Merkx et al. Relation between reactive surface sites and precursor choice for AS-ALD using small-molecule inhibitors. J. Phys. Chem. C 2022. doi:10.1021/acs.jpcc.1c10816</a:t>
            </a:r>
            <a:endParaRPr/>
          </a:p>
        </p:txBody>
      </p:sp>
      <p:sp>
        <p:nvSpPr>
          <p:cNvPr id="798" name="Google Shape;798;p35"/>
          <p:cNvSpPr txBox="1"/>
          <p:nvPr/>
        </p:nvSpPr>
        <p:spPr>
          <a:xfrm>
            <a:off x="502920" y="40690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Tezsevin et al. Computational investigation of precursor blocking with an aniline SMI. Langmuir 2023. doi:10.1021/acs.langmuir.2c03214</a:t>
            </a:r>
            <a:endParaRPr/>
          </a:p>
        </p:txBody>
      </p:sp>
      <p:sp>
        <p:nvSpPr>
          <p:cNvPr id="799" name="Google Shape;799;p35"/>
          <p:cNvSpPr txBox="1"/>
          <p:nvPr/>
        </p:nvSpPr>
        <p:spPr>
          <a:xfrm>
            <a:off x="502920" y="45262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Karasulu, Roozeboom &amp; Mameli. High-throughput area-selective spatial ALD of SiO₂ with interleaved small-molecule inhibitors. Adv. Mater. 2023. doi:10.1002/adma.202301204</a:t>
            </a:r>
            <a:endParaRPr/>
          </a:p>
        </p:txBody>
      </p:sp>
      <p:sp>
        <p:nvSpPr>
          <p:cNvPr id="800" name="Google Shape;800;p35"/>
          <p:cNvSpPr txBox="1"/>
          <p:nvPr/>
        </p:nvSpPr>
        <p:spPr>
          <a:xfrm>
            <a:off x="502920" y="49834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Roh et al. Surface reactions in ALD of silicon oxide using BDEAS and ozone. Appl. Surf. Sci. 2022. doi:10.1016/j.apsusc.2021.151231</a:t>
            </a:r>
            <a:endParaRPr/>
          </a:p>
        </p:txBody>
      </p:sp>
      <p:sp>
        <p:nvSpPr>
          <p:cNvPr id="801" name="Google Shape;801;p35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802" name="Google Shape;80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36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B1D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36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36"/>
          <p:cNvSpPr txBox="1"/>
          <p:nvPr/>
        </p:nvSpPr>
        <p:spPr>
          <a:xfrm>
            <a:off x="502920" y="146304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REFERENCES</a:t>
            </a:r>
            <a:endParaRPr/>
          </a:p>
        </p:txBody>
      </p:sp>
      <p:sp>
        <p:nvSpPr>
          <p:cNvPr id="810" name="Google Shape;810;p36"/>
          <p:cNvSpPr txBox="1"/>
          <p:nvPr/>
        </p:nvSpPr>
        <p:spPr>
          <a:xfrm>
            <a:off x="502920" y="402336"/>
            <a:ext cx="111558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700" lIns="25400" spcFirstLastPara="1" rIns="25400" wrap="square" tIns="12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2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Domain literature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1" name="Google Shape;811;p36"/>
          <p:cNvSpPr txBox="1"/>
          <p:nvPr/>
        </p:nvSpPr>
        <p:spPr>
          <a:xfrm>
            <a:off x="11430000" y="645566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B6070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812" name="Google Shape;812;p36"/>
          <p:cNvSpPr txBox="1"/>
          <p:nvPr/>
        </p:nvSpPr>
        <p:spPr>
          <a:xfrm>
            <a:off x="502920" y="6455664"/>
            <a:ext cx="82296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3" name="Google Shape;813;p36"/>
          <p:cNvSpPr txBox="1"/>
          <p:nvPr/>
        </p:nvSpPr>
        <p:spPr>
          <a:xfrm>
            <a:off x="502920" y="17830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Zhuravlev. The surface chemistry of amorphous silica. Colloids Surf. A 2000. doi:10.1016/s0927-7757(00)00556-2</a:t>
            </a:r>
            <a:endParaRPr/>
          </a:p>
        </p:txBody>
      </p:sp>
      <p:sp>
        <p:nvSpPr>
          <p:cNvPr id="814" name="Google Shape;814;p36"/>
          <p:cNvSpPr txBox="1"/>
          <p:nvPr/>
        </p:nvSpPr>
        <p:spPr>
          <a:xfrm>
            <a:off x="502920" y="22402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Ewing et al. Accurate amorphous silica surface models from first-principles thermodynamics of surface dehydroxylation. Langmuir 2014. doi:10.1021/la500422p</a:t>
            </a:r>
            <a:endParaRPr/>
          </a:p>
        </p:txBody>
      </p:sp>
      <p:sp>
        <p:nvSpPr>
          <p:cNvPr id="815" name="Google Shape;815;p36"/>
          <p:cNvSpPr txBox="1"/>
          <p:nvPr/>
        </p:nvSpPr>
        <p:spPr>
          <a:xfrm>
            <a:off x="502920" y="26974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MAD-SURF: fine-tuning MACE-MPA-0 for molecular adsorption on surfaces. arXiv:2601.18852  — Tier-1 engine basis.</a:t>
            </a:r>
            <a:endParaRPr/>
          </a:p>
        </p:txBody>
      </p:sp>
      <p:sp>
        <p:nvSpPr>
          <p:cNvPr id="816" name="Google Shape;816;p36"/>
          <p:cNvSpPr txBox="1"/>
          <p:nvPr/>
        </p:nvSpPr>
        <p:spPr>
          <a:xfrm>
            <a:off x="502920" y="31546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Fine-tuning foundation MLIPs with frozen transfer learning. arXiv:2502.15582  — foundation MLIPs underestimate reaction barriers (the lower-bound rule).</a:t>
            </a:r>
            <a:endParaRPr/>
          </a:p>
        </p:txBody>
      </p:sp>
      <p:sp>
        <p:nvSpPr>
          <p:cNvPr id="817" name="Google Shape;817;p36"/>
          <p:cNvSpPr txBox="1"/>
          <p:nvPr/>
        </p:nvSpPr>
        <p:spPr>
          <a:xfrm>
            <a:off x="502920" y="36118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Werbrouck et al. LLM Agents for Knowledge Discovery in Atomic Layer Processing. arXiv:2509.26201  — agent/swarm exploration and persistence.</a:t>
            </a:r>
            <a:endParaRPr/>
          </a:p>
        </p:txBody>
      </p:sp>
      <p:sp>
        <p:nvSpPr>
          <p:cNvPr id="818" name="Google Shape;818;p36"/>
          <p:cNvSpPr txBox="1"/>
          <p:nvPr/>
        </p:nvSpPr>
        <p:spPr>
          <a:xfrm>
            <a:off x="502920" y="4069080"/>
            <a:ext cx="112014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Ghafarollahi &amp; Buehler. </a:t>
            </a:r>
            <a:r>
              <a:rPr lang="en-US" sz="1150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Sparks Matter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: ideation → planning → experimentation → reporting. arXiv:2508.02956</a:t>
            </a:r>
            <a:endParaRPr/>
          </a:p>
        </p:txBody>
      </p:sp>
      <p:sp>
        <p:nvSpPr>
          <p:cNvPr id="819" name="Google Shape;819;p36"/>
          <p:cNvSpPr txBox="1"/>
          <p:nvPr/>
        </p:nvSpPr>
        <p:spPr>
          <a:xfrm>
            <a:off x="502920" y="45262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Gottweis et al. Towards an AI Co-Scientist. arXiv:2502.18864  — co-scientist framing.</a:t>
            </a:r>
            <a:endParaRPr/>
          </a:p>
        </p:txBody>
      </p:sp>
      <p:sp>
        <p:nvSpPr>
          <p:cNvPr id="820" name="Google Shape;820;p36"/>
          <p:cNvSpPr txBox="1"/>
          <p:nvPr/>
        </p:nvSpPr>
        <p:spPr>
          <a:xfrm>
            <a:off x="502920" y="49834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Lu et al. The AI Scientist. arXiv:2408.06292 (Nature, 2026)  — autonomous LaTeX authoring + figure QA + automated review.</a:t>
            </a:r>
            <a:endParaRPr/>
          </a:p>
        </p:txBody>
      </p:sp>
      <p:sp>
        <p:nvSpPr>
          <p:cNvPr id="821" name="Google Shape;821;p36"/>
          <p:cNvSpPr txBox="1"/>
          <p:nvPr/>
        </p:nvSpPr>
        <p:spPr>
          <a:xfrm>
            <a:off x="502920" y="54406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PaperOrchestra: multi-agent LaTeX manuscript assembly. arXiv:2604.05018</a:t>
            </a:r>
            <a:endParaRPr/>
          </a:p>
        </p:txBody>
      </p:sp>
      <p:sp>
        <p:nvSpPr>
          <p:cNvPr id="822" name="Google Shape;822;p36"/>
          <p:cNvSpPr txBox="1"/>
          <p:nvPr/>
        </p:nvSpPr>
        <p:spPr>
          <a:xfrm>
            <a:off x="502920" y="5897880"/>
            <a:ext cx="11201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7B0A8"/>
                </a:solidFill>
                <a:latin typeface="Calibri"/>
                <a:ea typeface="Calibri"/>
                <a:cs typeface="Calibri"/>
                <a:sym typeface="Calibri"/>
              </a:rPr>
              <a:t>▪  </a:t>
            </a:r>
            <a:r>
              <a:rPr b="0" i="0" lang="en-US" sz="1150" u="none" cap="none" strike="noStrike">
                <a:solidFill>
                  <a:srgbClr val="222633"/>
                </a:solidFill>
                <a:latin typeface="Calibri"/>
                <a:ea typeface="Calibri"/>
                <a:cs typeface="Calibri"/>
                <a:sym typeface="Calibri"/>
              </a:rPr>
              <a:t>Seal et al. Supervisor / Swarm / ReAct / Reflection agentic architecture. arXiv:2510.27130  — the Layer-3 loop pattern.</a:t>
            </a:r>
            <a:endParaRPr/>
          </a:p>
        </p:txBody>
      </p:sp>
      <p:sp>
        <p:nvSpPr>
          <p:cNvPr id="823" name="Google Shape;823;p36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824" name="Google Shape;824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p3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7"/>
          <p:cNvSpPr/>
          <p:nvPr/>
        </p:nvSpPr>
        <p:spPr>
          <a:xfrm>
            <a:off x="0" y="3383280"/>
            <a:ext cx="12191695" cy="73152"/>
          </a:xfrm>
          <a:prstGeom prst="rect">
            <a:avLst/>
          </a:prstGeom>
          <a:solidFill>
            <a:srgbClr val="17B0A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37"/>
          <p:cNvSpPr txBox="1"/>
          <p:nvPr/>
        </p:nvSpPr>
        <p:spPr>
          <a:xfrm>
            <a:off x="640080" y="2331720"/>
            <a:ext cx="10972800" cy="6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25400" spcFirstLastPara="1" rIns="25400" wrap="square" tIns="12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832" name="Google Shape;832;p37"/>
          <p:cNvSpPr txBox="1"/>
          <p:nvPr>
            <p:ph idx="11" type="ftr"/>
          </p:nvPr>
        </p:nvSpPr>
        <p:spPr>
          <a:xfrm>
            <a:off x="4648042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2026 Findez Labs</a:t>
            </a:r>
            <a:endParaRPr/>
          </a:p>
        </p:txBody>
      </p:sp>
      <p:pic>
        <p:nvPicPr>
          <p:cNvPr id="833" name="Google Shape;83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7276" y="5810300"/>
            <a:ext cx="1730727" cy="9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2E1D5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